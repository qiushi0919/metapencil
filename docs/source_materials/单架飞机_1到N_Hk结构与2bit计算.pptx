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0171ce03d9448e" /><Relationship Type="http://schemas.openxmlformats.org/officeDocument/2006/relationships/extended-properties" Target="/docProps/app.xml" Id="R6754572cbd144012" /><Relationship Type="http://schemas.openxmlformats.org/officeDocument/2006/relationships/officeDocument" Target="/ppt/presentation.xml" Id="R11b9b13939de44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636cc224034b68"/>
  </p:sldMasterIdLst>
  <p:notesMasterIdLst>
    <p:notesMasterId xmlns:r="http://schemas.openxmlformats.org/officeDocument/2006/relationships" r:id="R711e8f1d918a46f2"/>
  </p:notesMasterIdLst>
  <p:sldIdLst>
    <p:sldId xmlns:r="http://schemas.openxmlformats.org/officeDocument/2006/relationships" id="256" r:id="R3c82f2197fde4705"/>
    <p:sldId xmlns:r="http://schemas.openxmlformats.org/officeDocument/2006/relationships" id="257" r:id="Rd7f1474cbfd04f93"/>
    <p:sldId xmlns:r="http://schemas.openxmlformats.org/officeDocument/2006/relationships" id="258" r:id="R9a0fecdb96694e39"/>
    <p:sldId xmlns:r="http://schemas.openxmlformats.org/officeDocument/2006/relationships" id="259" r:id="Reec99928f0ce442c"/>
    <p:sldId xmlns:r="http://schemas.openxmlformats.org/officeDocument/2006/relationships" id="260" r:id="Rf3c9705a5e514e0f"/>
    <p:sldId xmlns:r="http://schemas.openxmlformats.org/officeDocument/2006/relationships" id="261" r:id="R566a18f87d3c4677"/>
    <p:sldId xmlns:r="http://schemas.openxmlformats.org/officeDocument/2006/relationships" id="262" r:id="Rff719f906a3c48cf"/>
    <p:sldId xmlns:r="http://schemas.openxmlformats.org/officeDocument/2006/relationships" id="263" r:id="R1be034fbcaea45e4"/>
    <p:sldId xmlns:r="http://schemas.openxmlformats.org/officeDocument/2006/relationships" id="264" r:id="Rfe507cf226ff49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e986bdefed4102" /><Relationship Type="http://schemas.openxmlformats.org/officeDocument/2006/relationships/slideMaster" Target="/ppt/slideMasters/slideMaster1.xml" Id="R07636cc224034b68" /><Relationship Type="http://schemas.openxmlformats.org/officeDocument/2006/relationships/notesMaster" Target="/ppt/notesMasters/notesMaster1.xml" Id="R711e8f1d918a46f2" /><Relationship Type="http://schemas.openxmlformats.org/officeDocument/2006/relationships/presProps" Target="/ppt/presProps.xml" Id="Ra5a5d277eeb94ba5" /><Relationship Type="http://schemas.openxmlformats.org/officeDocument/2006/relationships/tableStyles" Target="/ppt/tableStyles.xml" Id="Rfbf646c11a9d4514" /><Relationship Type="http://schemas.openxmlformats.org/officeDocument/2006/relationships/slide" Target="/ppt/slides/slide1.xml" Id="R3c82f2197fde4705" /><Relationship Type="http://schemas.openxmlformats.org/officeDocument/2006/relationships/slide" Target="/ppt/slides/slide2.xml" Id="Rd7f1474cbfd04f93" /><Relationship Type="http://schemas.openxmlformats.org/officeDocument/2006/relationships/slide" Target="/ppt/slides/slide3.xml" Id="R9a0fecdb96694e39" /><Relationship Type="http://schemas.openxmlformats.org/officeDocument/2006/relationships/slide" Target="/ppt/slides/slide4.xml" Id="Reec99928f0ce442c" /><Relationship Type="http://schemas.openxmlformats.org/officeDocument/2006/relationships/slide" Target="/ppt/slides/slide5.xml" Id="Rf3c9705a5e514e0f" /><Relationship Type="http://schemas.openxmlformats.org/officeDocument/2006/relationships/slide" Target="/ppt/slides/slide6.xml" Id="R566a18f87d3c4677" /><Relationship Type="http://schemas.openxmlformats.org/officeDocument/2006/relationships/slide" Target="/ppt/slides/slide7.xml" Id="Rff719f906a3c48cf" /><Relationship Type="http://schemas.openxmlformats.org/officeDocument/2006/relationships/slide" Target="/ppt/slides/slide8.xml" Id="R1be034fbcaea45e4" /><Relationship Type="http://schemas.openxmlformats.org/officeDocument/2006/relationships/slide" Target="/ppt/slides/slide9.xml" Id="Rfe507cf226ff49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55b290f39048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e03d7329eb4b6c" /><Relationship Type="http://schemas.openxmlformats.org/officeDocument/2006/relationships/notesMaster" Target="/ppt/notesMasters/notesMaster1.xml" Id="Rb57ee4f597214c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c4e5b6514b44ea" /><Relationship Type="http://schemas.openxmlformats.org/officeDocument/2006/relationships/notesMaster" Target="/ppt/notesMasters/notesMaster1.xml" Id="R1292f00ef0b346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8b3bad075640b6" /><Relationship Type="http://schemas.openxmlformats.org/officeDocument/2006/relationships/notesMaster" Target="/ppt/notesMasters/notesMaster1.xml" Id="Ra7a0ace849c849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15dd4f1cc24b90" /><Relationship Type="http://schemas.openxmlformats.org/officeDocument/2006/relationships/notesMaster" Target="/ppt/notesMasters/notesMaster1.xml" Id="R304f5d7891b24a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bb0ef19fc94642" /><Relationship Type="http://schemas.openxmlformats.org/officeDocument/2006/relationships/notesMaster" Target="/ppt/notesMasters/notesMaster1.xml" Id="Rb8ea29b96a9042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68b320f29c4332" /><Relationship Type="http://schemas.openxmlformats.org/officeDocument/2006/relationships/notesMaster" Target="/ppt/notesMasters/notesMaster1.xml" Id="R1af4929aee424b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62f48dee2e4f35" /><Relationship Type="http://schemas.openxmlformats.org/officeDocument/2006/relationships/notesMaster" Target="/ppt/notesMasters/notesMaster1.xml" Id="Ra9ea9319ec7040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39bb8770c34474" /><Relationship Type="http://schemas.openxmlformats.org/officeDocument/2006/relationships/notesMaster" Target="/ppt/notesMasters/notesMaster1.xml" Id="Rb6f472fe8b1444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a64fac8daa4bf4" /><Relationship Type="http://schemas.openxmlformats.org/officeDocument/2006/relationships/notesMaster" Target="/ppt/notesMasters/notesMaster1.xml" Id="R6cc82dc9880540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MATLAB model: run_full_array_freedom_study.m</a:t>
            </a:r>
          </a:p>
          <a:p xmlns:a="http://schemas.openxmlformats.org/drawingml/2006/main">
            <a:r>
              <a:t>- Local control tables: results_full_array_exact/control_tables/single_1to2_channels.csv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single_aircraft_redesign_figures/1to1_high_contrast.png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single_aircraft_redesign_figures/1to2_high_contrast.png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single_aircraft_redesign_figures/1to3_high_contrast.png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single_aircraft_redesign_figures/1to4_high_contrast.png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single_aircraft_redesign_figures/1to5_high_contrast.png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single_aircraft_redesign_figures/1to9_high_contrast.png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single_aircraft_redesign_figures/1to16_high_contrast.png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MATLAB parameters and quantizer: run_full_array_freedom_study.m</a:t>
            </a:r>
          </a:p>
          <a:p xmlns:a="http://schemas.openxmlformats.org/drawingml/2006/main">
            <a:r>
              <a:t>- Local channel values: results_full_array_exact/control_tables/single_1to1_channels.csv</a:t>
            </a:r>
          </a:p>
          <a:p xmlns:a="http://schemas.openxmlformats.org/drawingml/2006/main">
            <a:r>
              <a:t>- Calculation uses P23 with d_r=1/10 and d_a=5/6 at tau=0.30T_r and eta=0.20T_a.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d8137541be43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daff36e352443d" /><Relationship Type="http://schemas.openxmlformats.org/officeDocument/2006/relationships/slideLayout" Target="/ppt/slideLayouts/slideLayout1.xml" Id="Rf9376ff2ce8748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376ff2ce8748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20186077042c5" /><Relationship Type="http://schemas.openxmlformats.org/officeDocument/2006/relationships/image" Target="/ppt/media/image.png" Id="R5a30597a6f904d5f" /><Relationship Type="http://schemas.openxmlformats.org/officeDocument/2006/relationships/image" Target="/ppt/media/image.svg" Id="R4be53077bad04104" /><Relationship Type="http://schemas.openxmlformats.org/officeDocument/2006/relationships/image" Target="/ppt/media/image2.png" Id="R57f3c42dd9cf4b4b" /><Relationship Type="http://schemas.openxmlformats.org/officeDocument/2006/relationships/image" Target="/ppt/media/image2.svg" Id="R839343c41f544f23" /><Relationship Type="http://schemas.openxmlformats.org/officeDocument/2006/relationships/image" Target="/ppt/media/image3.png" Id="Rbf4b3190adb7483d" /><Relationship Type="http://schemas.openxmlformats.org/officeDocument/2006/relationships/image" Target="/ppt/media/image3.svg" Id="Rb5d14fee5f1a44d8" /><Relationship Type="http://schemas.openxmlformats.org/officeDocument/2006/relationships/image" Target="/ppt/media/image4.png" Id="Raf66d47f8294487d" /><Relationship Type="http://schemas.openxmlformats.org/officeDocument/2006/relationships/image" Target="/ppt/media/image4.svg" Id="R6e707a49f0b84a63" /><Relationship Type="http://schemas.openxmlformats.org/officeDocument/2006/relationships/image" Target="/ppt/media/image5.png" Id="R541a95e06a074976" /><Relationship Type="http://schemas.openxmlformats.org/officeDocument/2006/relationships/image" Target="/ppt/media/image5.svg" Id="R697278ae006a435c" /><Relationship Type="http://schemas.openxmlformats.org/officeDocument/2006/relationships/image" Target="/ppt/media/image6.png" Id="Rc783bac5d4084e10" /><Relationship Type="http://schemas.openxmlformats.org/officeDocument/2006/relationships/image" Target="/ppt/media/image6.svg" Id="R43463b8b845348ca" /><Relationship Type="http://schemas.openxmlformats.org/officeDocument/2006/relationships/image" Target="/ppt/media/image7.png" Id="Re07f05425a794b3b" /><Relationship Type="http://schemas.openxmlformats.org/officeDocument/2006/relationships/image" Target="/ppt/media/image7.svg" Id="R9a5681ba636849bb" /><Relationship Type="http://schemas.openxmlformats.org/officeDocument/2006/relationships/image" Target="/ppt/media/image8.png" Id="R2aca6a7333b644aa" /><Relationship Type="http://schemas.openxmlformats.org/officeDocument/2006/relationships/image" Target="/ppt/media/image8.svg" Id="Rde4b7e282b4b4a90" /><Relationship Type="http://schemas.openxmlformats.org/officeDocument/2006/relationships/image" Target="/ppt/media/image9.png" Id="R3f1c0dc4b6a84121" /><Relationship Type="http://schemas.openxmlformats.org/officeDocument/2006/relationships/image" Target="/ppt/media/image9.svg" Id="R15f96548a7ae492a" /><Relationship Type="http://schemas.openxmlformats.org/officeDocument/2006/relationships/image" Target="/ppt/media/image10.png" Id="R6c8edb462d4c46a6" /><Relationship Type="http://schemas.openxmlformats.org/officeDocument/2006/relationships/image" Target="/ppt/media/image10.svg" Id="Ra0a79ca3f7be4c1d" /><Relationship Type="http://schemas.openxmlformats.org/officeDocument/2006/relationships/image" Target="/ppt/media/image11.png" Id="Rb5fb2dd9f217478e" /><Relationship Type="http://schemas.openxmlformats.org/officeDocument/2006/relationships/image" Target="/ppt/media/image11.svg" Id="R2f027933134e43d6" /><Relationship Type="http://schemas.openxmlformats.org/officeDocument/2006/relationships/image" Target="/ppt/media/image12.png" Id="Rcb88dd65f3074bc9" /><Relationship Type="http://schemas.openxmlformats.org/officeDocument/2006/relationships/image" Target="/ppt/media/image12.svg" Id="Rf9b4728f4af3491a" /><Relationship Type="http://schemas.openxmlformats.org/officeDocument/2006/relationships/image" Target="/ppt/media/image13.png" Id="Ra14921691cac4668" /><Relationship Type="http://schemas.openxmlformats.org/officeDocument/2006/relationships/image" Target="/ppt/media/image13.svg" Id="Rddd8e43cbcf547c8" /><Relationship Type="http://schemas.openxmlformats.org/officeDocument/2006/relationships/image" Target="/ppt/media/image14.png" Id="R9e40fe1e35ee4c8e" /><Relationship Type="http://schemas.openxmlformats.org/officeDocument/2006/relationships/image" Target="/ppt/media/image14.svg" Id="R76778512a10946f8" /><Relationship Type="http://schemas.openxmlformats.org/officeDocument/2006/relationships/image" Target="/ppt/media/image15.png" Id="R33185ded64b64dbf" /><Relationship Type="http://schemas.openxmlformats.org/officeDocument/2006/relationships/image" Target="/ppt/media/image15.svg" Id="Rd54d8e6ee23147b5" /><Relationship Type="http://schemas.openxmlformats.org/officeDocument/2006/relationships/notesSlide" Target="/ppt/notesSlides/notesSlide1.xml" Id="R17f7b92ec17043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73901be2d48b2" /><Relationship Type="http://schemas.openxmlformats.org/officeDocument/2006/relationships/image" Target="/ppt/media/image16.png" Id="R749a5f6e6a2e42ff" /><Relationship Type="http://schemas.openxmlformats.org/officeDocument/2006/relationships/notesSlide" Target="/ppt/notesSlides/notesSlide2.xml" Id="R0e62bcde7e644d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b54b6bc0e433c" /><Relationship Type="http://schemas.openxmlformats.org/officeDocument/2006/relationships/image" Target="/ppt/media/image17.png" Id="Rcd1a3eb1f9324533" /><Relationship Type="http://schemas.openxmlformats.org/officeDocument/2006/relationships/notesSlide" Target="/ppt/notesSlides/notesSlide3.xml" Id="R15b38859205b4e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0fca65697436f" /><Relationship Type="http://schemas.openxmlformats.org/officeDocument/2006/relationships/image" Target="/ppt/media/image18.png" Id="R72d02c68df27486b" /><Relationship Type="http://schemas.openxmlformats.org/officeDocument/2006/relationships/notesSlide" Target="/ppt/notesSlides/notesSlide4.xml" Id="Rf4fc9c8048654c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3c5d1b04d44cb" /><Relationship Type="http://schemas.openxmlformats.org/officeDocument/2006/relationships/image" Target="/ppt/media/image19.png" Id="R5fabee37ccbd4d85" /><Relationship Type="http://schemas.openxmlformats.org/officeDocument/2006/relationships/notesSlide" Target="/ppt/notesSlides/notesSlide5.xml" Id="Ra03fc263721041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8a1ee524b43b2" /><Relationship Type="http://schemas.openxmlformats.org/officeDocument/2006/relationships/image" Target="/ppt/media/image20.png" Id="R60a73aadded94f74" /><Relationship Type="http://schemas.openxmlformats.org/officeDocument/2006/relationships/notesSlide" Target="/ppt/notesSlides/notesSlide6.xml" Id="Rc29f7f1c6bd647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811759bca47ef" /><Relationship Type="http://schemas.openxmlformats.org/officeDocument/2006/relationships/image" Target="/ppt/media/image21.png" Id="Rcb75e6ba0b9d438d" /><Relationship Type="http://schemas.openxmlformats.org/officeDocument/2006/relationships/notesSlide" Target="/ppt/notesSlides/notesSlide7.xml" Id="Re0bc4e8cdabc40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0c808aa434295" /><Relationship Type="http://schemas.openxmlformats.org/officeDocument/2006/relationships/image" Target="/ppt/media/image22.png" Id="Rfaffaa3826a345c7" /><Relationship Type="http://schemas.openxmlformats.org/officeDocument/2006/relationships/notesSlide" Target="/ppt/notesSlides/notesSlide8.xml" Id="Rd4750de094dc43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4ffcd3a834691" /><Relationship Type="http://schemas.openxmlformats.org/officeDocument/2006/relationships/image" Target="/ppt/media/image23.png" Id="R0638df68589142ec" /><Relationship Type="http://schemas.openxmlformats.org/officeDocument/2006/relationships/image" Target="/ppt/media/image16.svg" Id="R57643d5da7a34f58" /><Relationship Type="http://schemas.openxmlformats.org/officeDocument/2006/relationships/image" Target="/ppt/media/image24.png" Id="R79164003a0ea46c5" /><Relationship Type="http://schemas.openxmlformats.org/officeDocument/2006/relationships/image" Target="/ppt/media/image17.svg" Id="R7ea717458a8a4deb" /><Relationship Type="http://schemas.openxmlformats.org/officeDocument/2006/relationships/image" Target="/ppt/media/image25.png" Id="R9e3a9cb1651f4148" /><Relationship Type="http://schemas.openxmlformats.org/officeDocument/2006/relationships/image" Target="/ppt/media/image18.svg" Id="R4433e5fe647e4320" /><Relationship Type="http://schemas.openxmlformats.org/officeDocument/2006/relationships/image" Target="/ppt/media/image26.png" Id="R58f930912b944f06" /><Relationship Type="http://schemas.openxmlformats.org/officeDocument/2006/relationships/image" Target="/ppt/media/image19.svg" Id="R689bd426092c4712" /><Relationship Type="http://schemas.openxmlformats.org/officeDocument/2006/relationships/image" Target="/ppt/media/image27.png" Id="Ra93c09e43d494dba" /><Relationship Type="http://schemas.openxmlformats.org/officeDocument/2006/relationships/image" Target="/ppt/media/image20.svg" Id="R48dfa8bbb5b0451c" /><Relationship Type="http://schemas.openxmlformats.org/officeDocument/2006/relationships/image" Target="/ppt/media/image28.png" Id="Redf1d80247ee47bb" /><Relationship Type="http://schemas.openxmlformats.org/officeDocument/2006/relationships/image" Target="/ppt/media/image21.svg" Id="Re1f51a4bd34547d7" /><Relationship Type="http://schemas.openxmlformats.org/officeDocument/2006/relationships/image" Target="/ppt/media/image29.png" Id="R4d351c1a48df4fff" /><Relationship Type="http://schemas.openxmlformats.org/officeDocument/2006/relationships/image" Target="/ppt/media/image22.svg" Id="Rbf170c4652194787" /><Relationship Type="http://schemas.openxmlformats.org/officeDocument/2006/relationships/image" Target="/ppt/media/image30.png" Id="R6368e6c061f845c5" /><Relationship Type="http://schemas.openxmlformats.org/officeDocument/2006/relationships/image" Target="/ppt/media/image23.svg" Id="R5a323254b5864ea7" /><Relationship Type="http://schemas.openxmlformats.org/officeDocument/2006/relationships/image" Target="/ppt/media/image31.png" Id="R1ce83dc12c3d488f" /><Relationship Type="http://schemas.openxmlformats.org/officeDocument/2006/relationships/image" Target="/ppt/media/image24.svg" Id="R9a0cc323e7f54bb5" /><Relationship Type="http://schemas.openxmlformats.org/officeDocument/2006/relationships/image" Target="/ppt/media/image32.png" Id="R9b33404422824447" /><Relationship Type="http://schemas.openxmlformats.org/officeDocument/2006/relationships/image" Target="/ppt/media/image25.svg" Id="R647fcf981cf74fbd" /><Relationship Type="http://schemas.openxmlformats.org/officeDocument/2006/relationships/image" Target="/ppt/media/image33.png" Id="R6e3a360490014eb2" /><Relationship Type="http://schemas.openxmlformats.org/officeDocument/2006/relationships/image" Target="/ppt/media/image26.svg" Id="Rfbfa93a0c0d14f92" /><Relationship Type="http://schemas.openxmlformats.org/officeDocument/2006/relationships/image" Target="/ppt/media/image34.png" Id="Ra130f0062b6248f4" /><Relationship Type="http://schemas.openxmlformats.org/officeDocument/2006/relationships/image" Target="/ppt/media/image27.svg" Id="Rbbaaa261101c43b2" /><Relationship Type="http://schemas.openxmlformats.org/officeDocument/2006/relationships/image" Target="/ppt/media/image35.png" Id="R76559ea75cd74379" /><Relationship Type="http://schemas.openxmlformats.org/officeDocument/2006/relationships/image" Target="/ppt/media/image28.svg" Id="Rba4fb6e5234d4b25" /><Relationship Type="http://schemas.openxmlformats.org/officeDocument/2006/relationships/image" Target="/ppt/media/image36.png" Id="Re8b8f2f6f9cc4b4d" /><Relationship Type="http://schemas.openxmlformats.org/officeDocument/2006/relationships/image" Target="/ppt/media/image29.svg" Id="Rf8bc7723d5ab4f19" /><Relationship Type="http://schemas.openxmlformats.org/officeDocument/2006/relationships/notesSlide" Target="/ppt/notesSlides/notesSlide9.xml" Id="R91036e56a43440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4E7AEC6-DF46-44A3-B62C-A25ED33B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989E0-6A03-4DCB-A351-2F2FE5A9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1135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24D"/>
                </a:solidFill>
              </a:defRPr>
            </a:pPr>
            <a:r>
              <a:rPr sz="3375" b="1">
                <a:solidFill>
                  <a:srgbClr val="17324D"/>
                </a:solidFill>
              </a:rPr>
              <a:t>Hk是一条完整的假目标通道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D54D4-B5CB-461E-9E45-EE650F39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33425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A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8140F-F909-45C4-9A94-D1BD1E84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71525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E91"/>
                </a:solidFill>
              </a:defRPr>
            </a:pPr>
            <a:r>
              <a:rPr sz="1500" b="0">
                <a:solidFill>
                  <a:srgbClr val="667E91"/>
                </a:solidFill>
              </a:rPr>
              <a:t>所有Hk共用同一套4×4内部延迟模板；目标位置由时间调制频率和方向决定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554BD-2E9A-4CDD-B667-505B7948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337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E91"/>
                </a:solidFill>
              </a:defRPr>
            </a:pPr>
            <a:r>
              <a:rPr sz="2250" b="1">
                <a:solidFill>
                  <a:srgbClr val="667E91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888F2-BE03-4D5F-A03B-5FAEA636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337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E91"/>
                </a:solidFill>
              </a:defRPr>
            </a:pPr>
            <a:r>
              <a:rPr sz="2250" b="1">
                <a:solidFill>
                  <a:srgbClr val="667E91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8B97F-26D1-4A53-9DFF-ACE1D563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2667000" cy="46863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1426E-94C7-4ED0-A140-FA80B9DC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1  定义通道Hk</a:t>
            </a:r>
          </a:p>
        </p:txBody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0597a6f904d5f">
            <a:extLst>
              <a:ext uri="{96DAC541-7B7A-43D3-8B79-37D633B846F1}">
                <asvg:svgBlip xmlns:asvg="http://schemas.microsoft.com/office/drawing/2016/SVG/main" r:embed="R4be53077bad041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750" y="1847850"/>
            <a:ext cx="2143125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08D6C-E8CF-49EC-8D8C-632D818A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955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E91"/>
                </a:solidFill>
              </a:defRPr>
            </a:pPr>
            <a:r>
              <a:rPr sz="1425" b="0">
                <a:solidFill>
                  <a:srgbClr val="667E91"/>
                </a:solidFill>
              </a:rPr>
              <a:t>指定SAR中的假目标中心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E7860-6002-4462-84BD-ACBD2A20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1336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12383">
            <a:solidFill>
              <a:srgbClr val="1769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D8677-C795-4692-9DB9-882D6F47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69AA"/>
                </a:solidFill>
              </a:defRPr>
            </a:pPr>
            <a:r>
              <a:rPr sz="2025" b="1">
                <a:solidFill>
                  <a:srgbClr val="1769AA"/>
                </a:solidFill>
              </a:rPr>
              <a:t>H1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D72F4-F132-4C2F-8AB0-F2284B63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9445C"/>
                </a:solidFill>
              </a:defRPr>
            </a:pPr>
            <a:r>
              <a:rPr sz="1425" b="1">
                <a:solidFill>
                  <a:srgbClr val="29445C"/>
                </a:solidFill>
              </a:rPr>
              <a:t>目标 (-8, +8) m</a:t>
            </a:r>
          </a:p>
        </p:txBody>
      </p:sp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3c42dd9cf4b4b">
            <a:extLst>
              <a:ext uri="{96DAC541-7B7A-43D3-8B79-37D633B846F1}">
                <asvg:svgBlip xmlns:asvg="http://schemas.microsoft.com/office/drawing/2016/SVG/main" r:embed="R839343c41f544f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3457575"/>
            <a:ext cx="1762125" cy="247650"/>
          </a:xfrm>
          <a:prstGeom xmlns:a="http://schemas.openxmlformats.org/drawingml/2006/main" prst="rect">
            <a:avLst/>
          </a:prstGeom>
        </p:spPr>
      </p:pic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b3190adb7483d">
            <a:extLst>
              <a:ext uri="{96DAC541-7B7A-43D3-8B79-37D633B846F1}">
                <asvg:svgBlip xmlns:asvg="http://schemas.microsoft.com/office/drawing/2016/SVG/main" r:embed="Rb5d14fee5f1a44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3705225"/>
            <a:ext cx="1762125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F9F96-AF8F-4412-AAD4-E1AB1C8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21336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E3D5"/>
          </a:solidFill>
          <a:ln xmlns:a="http://schemas.openxmlformats.org/drawingml/2006/main" w="12383">
            <a:solidFill>
              <a:srgbClr val="C4512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F6AD5-6C99-4B2F-B237-FEBEC6EE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45122"/>
                </a:solidFill>
              </a:defRPr>
            </a:pPr>
            <a:r>
              <a:rPr sz="2025" b="1">
                <a:solidFill>
                  <a:srgbClr val="C45122"/>
                </a:solidFill>
              </a:rPr>
              <a:t>H2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BD703-3C8A-49FD-8AA7-5D34D08D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9445C"/>
                </a:solidFill>
              </a:defRPr>
            </a:pPr>
            <a:r>
              <a:rPr sz="1425" b="1">
                <a:solidFill>
                  <a:srgbClr val="29445C"/>
                </a:solidFill>
              </a:rPr>
              <a:t>目标 (+8, +8) m</a:t>
            </a:r>
          </a:p>
        </p:txBody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6d47f8294487d">
            <a:extLst>
              <a:ext uri="{96DAC541-7B7A-43D3-8B79-37D633B846F1}">
                <asvg:svgBlip xmlns:asvg="http://schemas.microsoft.com/office/drawing/2016/SVG/main" r:embed="R6e707a49f0b84a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4914900"/>
            <a:ext cx="1762125" cy="247650"/>
          </a:xfrm>
          <a:prstGeom xmlns:a="http://schemas.openxmlformats.org/drawingml/2006/main" prst="rect">
            <a:avLst/>
          </a:prstGeom>
        </p:spPr>
      </p:pic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a95e06a074976">
            <a:extLst>
              <a:ext uri="{96DAC541-7B7A-43D3-8B79-37D633B846F1}">
                <asvg:svgBlip xmlns:asvg="http://schemas.microsoft.com/office/drawing/2016/SVG/main" r:embed="R697278ae006a43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5162550"/>
            <a:ext cx="1762125" cy="2476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A418B-5EF8-4192-864D-F6343FB6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435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63E32"/>
                </a:solidFill>
              </a:defRPr>
            </a:pPr>
            <a:r>
              <a:rPr sz="1350" b="1">
                <a:solidFill>
                  <a:srgbClr val="B63E32"/>
                </a:solidFill>
              </a:rPr>
              <a:t>H1与H2的内部结构相同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0FC2D-B6CC-44A4-AF90-3750DB40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219200"/>
            <a:ext cx="4572000" cy="4686300"/>
          </a:xfrm>
          <a:prstGeom xmlns:a="http://schemas.openxmlformats.org/drawingml/2006/main" prst="roundRect">
            <a:avLst>
              <a:gd name="adj" fmla="val 2917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876EC1-E6F8-4B34-AA37-AE716F0C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81125"/>
            <a:ext cx="411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2  Hk内部：4×4延迟子单元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77055B-346A-40D6-A2F9-D76541A0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4114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E91"/>
                </a:solidFill>
              </a:defRPr>
            </a:pPr>
            <a:r>
              <a:rPr sz="1425" b="0">
                <a:solidFill>
                  <a:srgbClr val="667E91"/>
                </a:solidFill>
              </a:rPr>
              <a:t>行：距离延迟    列：方位延迟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C9AE71-40C8-454B-8A3F-F30C52E2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57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A1</a:t>
            </a:r>
          </a:p>
        </p:txBody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3bac5d4084e10">
            <a:extLst>
              <a:ext uri="{96DAC541-7B7A-43D3-8B79-37D633B846F1}">
                <asvg:svgBlip xmlns:asvg="http://schemas.microsoft.com/office/drawing/2016/SVG/main" r:embed="R43463b8b845348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05275" y="2238375"/>
            <a:ext cx="742950" cy="2095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EB983F-ED5A-4EC3-99B2-062B17BE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057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A2</a:t>
            </a:r>
          </a:p>
        </p:txBody>
      </p:sp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f05425a794b3b">
            <a:extLst>
              <a:ext uri="{96DAC541-7B7A-43D3-8B79-37D633B846F1}">
                <asvg:svgBlip xmlns:asvg="http://schemas.microsoft.com/office/drawing/2016/SVG/main" r:embed="R9a5681ba636849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48225" y="2238375"/>
            <a:ext cx="742950" cy="2095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DE2FE1-1638-4849-BF3C-2BF0921D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057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A3</a:t>
            </a:r>
          </a:p>
        </p:txBody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a6a7333b644aa">
            <a:extLst>
              <a:ext uri="{96DAC541-7B7A-43D3-8B79-37D633B846F1}">
                <asvg:svgBlip xmlns:asvg="http://schemas.microsoft.com/office/drawing/2016/SVG/main" r:embed="Rde4b7e282b4b4a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91175" y="2238375"/>
            <a:ext cx="742950" cy="2095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273BCE-1382-4B57-9CF5-0C9EC850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57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A4</a:t>
            </a:r>
          </a:p>
        </p:txBody>
      </p:sp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c0dc4b6a84121">
            <a:extLst>
              <a:ext uri="{96DAC541-7B7A-43D3-8B79-37D633B846F1}">
                <asvg:svgBlip xmlns:asvg="http://schemas.microsoft.com/office/drawing/2016/SVG/main" r:embed="R15f96548a7ae49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2238375"/>
            <a:ext cx="742950" cy="2095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5ECD2F-A1F3-4E52-9555-52BAF08C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R1</a:t>
            </a:r>
          </a:p>
        </p:txBody>
      </p:sp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edb462d4c46a6">
            <a:extLst>
              <a:ext uri="{96DAC541-7B7A-43D3-8B79-37D633B846F1}">
                <asvg:svgBlip xmlns:asvg="http://schemas.microsoft.com/office/drawing/2016/SVG/main" r:embed="Ra0a79ca3f7be4c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86150" y="2752725"/>
            <a:ext cx="590550" cy="2095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0E9D0F-1A2F-4C89-A76C-4A2620F2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A3AF5E-2AFD-44B3-9120-1CEBEAF8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288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P11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EB2A44-40AC-4628-8A7F-43D7AD88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479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(0,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FE0869-ABFB-454A-9F75-9DA1DC6C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8479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0)T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FF898F-9178-4EE8-B8A8-38FF1D75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5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E1D6CC-F874-4684-B62A-449267CA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288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5122"/>
                </a:solidFill>
              </a:defRPr>
            </a:pPr>
            <a:r>
              <a:rPr sz="1200" b="1">
                <a:solidFill>
                  <a:srgbClr val="C45122"/>
                </a:solidFill>
              </a:rPr>
              <a:t>P12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02C2B7-7918-4B84-8CDB-E96B0A2D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6479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(0,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CFEDAC-8725-4CB1-A0A3-14A25A63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8479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1/10)T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722115-067B-4D2B-A171-48A67280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3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55E5ED-0803-4E4A-8A4E-E2C8DA12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4288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645"/>
                </a:solidFill>
              </a:defRPr>
            </a:pPr>
            <a:r>
              <a:rPr sz="1200" b="1">
                <a:solidFill>
                  <a:srgbClr val="247645"/>
                </a:solidFill>
              </a:rPr>
              <a:t>P13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62D0FD-E2C8-462D-A642-83115FA6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6479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(0,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45E7C6-D6A1-4814-ABA2-C8FD2EB0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8479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5/6)T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D94206-AC41-4A22-946D-3543A1F8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2F6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FB81E3-E3C0-42C4-A542-9F6BB3B6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4BA1"/>
                </a:solidFill>
              </a:defRPr>
            </a:pPr>
            <a:r>
              <a:rPr sz="1200" b="1">
                <a:solidFill>
                  <a:srgbClr val="6B4BA1"/>
                </a:solidFill>
              </a:rPr>
              <a:t>P14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C79643-A6C9-410B-86E2-CA7937F2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479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(0,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04B64B-7D2A-46E3-90E1-C98E50D1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479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14/15)T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EE77D0-80D1-4F6D-8913-D79660E8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R2</a:t>
            </a:r>
          </a:p>
        </p:txBody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b2dd9f217478e">
            <a:extLst>
              <a:ext uri="{96DAC541-7B7A-43D3-8B79-37D633B846F1}">
                <asvg:svgBlip xmlns:asvg="http://schemas.microsoft.com/office/drawing/2016/SVG/main" r:embed="R2f027933134e43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86150" y="3495675"/>
            <a:ext cx="590550" cy="20955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CA4FC2-1C84-4A9B-8CD5-78BC6C61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5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9909A0-AB90-4EBA-9332-62D4A089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718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5122"/>
                </a:solidFill>
              </a:defRPr>
            </a:pPr>
            <a:r>
              <a:rPr sz="1200" b="1">
                <a:solidFill>
                  <a:srgbClr val="C45122"/>
                </a:solidFill>
              </a:rPr>
              <a:t>P21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2EBB6F-C9C9-44D7-8C5C-4D9F0898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909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(1/10,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43B695-C05B-4787-BC43-BCE6D36B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5909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0)T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5E54B3-E6EF-49E8-944D-FD7FE5E0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3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F01764-9753-4A25-A560-B3B5C32F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1718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645"/>
                </a:solidFill>
              </a:defRPr>
            </a:pPr>
            <a:r>
              <a:rPr sz="1200" b="1">
                <a:solidFill>
                  <a:srgbClr val="247645"/>
                </a:solidFill>
              </a:rPr>
              <a:t>P22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6C32E9-B246-49AA-8607-B5666D33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3909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(1/10,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80FA10-270A-412B-A7AD-C6C4C51D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5909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1/10)T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043061-EA47-4850-AFBF-BECC7B59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2F6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2383BFD-5755-4B04-A88D-23DEF3AD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1718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4BA1"/>
                </a:solidFill>
              </a:defRPr>
            </a:pPr>
            <a:r>
              <a:rPr sz="1200" b="1">
                <a:solidFill>
                  <a:srgbClr val="6B4BA1"/>
                </a:solidFill>
              </a:rPr>
              <a:t>P23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BC4AD4-0D78-4D48-A2B5-C68E2183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3909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(1/10,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41B6AD4-C3C1-4C7D-BCE4-D617FC68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5909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5/6)T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27D1073-45C4-4972-92F9-A1F0368B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BD64B40-D96D-48B6-86B6-31B4C38A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718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P24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6029CE8-67D2-4EE8-B6A8-F673DF93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(1/10,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4C041F-32EB-4E85-9624-785C9892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909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14/15)T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31F491-91DA-4F56-9981-FD22DDBF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R3</a:t>
            </a:r>
          </a:p>
        </p:txBody>
      </p:sp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8dd65f3074bc9">
            <a:extLst>
              <a:ext uri="{96DAC541-7B7A-43D3-8B79-37D633B846F1}">
                <asvg:svgBlip xmlns:asvg="http://schemas.microsoft.com/office/drawing/2016/SVG/main" r:embed="Rf9b4728f4af349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86150" y="4238625"/>
            <a:ext cx="590550" cy="209550"/>
          </a:xfrm>
          <a:prstGeom xmlns:a="http://schemas.openxmlformats.org/drawingml/2006/main" prst="rect">
            <a:avLst/>
          </a:prstGeom>
        </p:spPr>
      </p:pic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B5D1B61-F68A-418F-B992-C1D8FEE3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3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900F82-165C-468F-BDEB-D2DDAE31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9147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645"/>
                </a:solidFill>
              </a:defRPr>
            </a:pPr>
            <a:r>
              <a:rPr sz="1200" b="1">
                <a:solidFill>
                  <a:srgbClr val="247645"/>
                </a:solidFill>
              </a:rPr>
              <a:t>P31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9560774-C693-4A77-B007-9B84BB4F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1338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(5/6,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DAA664B-B76B-436E-B7B6-77000374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3338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0)T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44CEAA2-2D3E-461E-A91D-C63239A7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2F6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6E284AB-255E-4B7F-95BF-BDDCFA7E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9147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4BA1"/>
                </a:solidFill>
              </a:defRPr>
            </a:pPr>
            <a:r>
              <a:rPr sz="1200" b="1">
                <a:solidFill>
                  <a:srgbClr val="6B4BA1"/>
                </a:solidFill>
              </a:rPr>
              <a:t>P32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090733C-6FE7-4AD5-8C52-41CE9BBE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1338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(5/6,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A6E763E-A0D1-4563-8479-317F54D2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3338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1/10)T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393ED8A-A114-437D-9F22-4EDC790E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EADD72-9FC4-44E7-B264-2D5ADA7B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9147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P33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E1E6922-A36E-4F14-95C0-E5B3A31D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1338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(5/6,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79AC48F-B386-4E99-95EE-EAB86171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3338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5/6)T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80C2E25-458F-406C-AEDD-4662A21E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5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C63782D-8BD3-41FC-9B80-5C60EF59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147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5122"/>
                </a:solidFill>
              </a:defRPr>
            </a:pPr>
            <a:r>
              <a:rPr sz="1200" b="1">
                <a:solidFill>
                  <a:srgbClr val="C45122"/>
                </a:solidFill>
              </a:rPr>
              <a:t>P34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C6139C4-1B4A-4645-9EF0-2E567F53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338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(5/6,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D9842C2-013A-4B00-93D8-9123B670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338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14/15)T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DFB9EE5-BB8F-4551-9FC6-A7C49FDC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R4</a:t>
            </a:r>
          </a:p>
        </p:txBody>
      </p:sp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921691cac4668">
            <a:extLst>
              <a:ext uri="{96DAC541-7B7A-43D3-8B79-37D633B846F1}">
                <asvg:svgBlip xmlns:asvg="http://schemas.microsoft.com/office/drawing/2016/SVG/main" r:embed="Rddd8e43cbcf547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86150" y="4981575"/>
            <a:ext cx="590550" cy="209550"/>
          </a:xfrm>
          <a:prstGeom xmlns:a="http://schemas.openxmlformats.org/drawingml/2006/main" prst="rect">
            <a:avLst/>
          </a:prstGeom>
        </p:spPr>
      </p:pic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8B20C26-F16C-45AB-80EA-9E76CDD9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2F6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47B205E-90CF-484A-9E52-956AC286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6577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4BA1"/>
                </a:solidFill>
              </a:defRPr>
            </a:pPr>
            <a:r>
              <a:rPr sz="1200" b="1">
                <a:solidFill>
                  <a:srgbClr val="6B4BA1"/>
                </a:solidFill>
              </a:rPr>
              <a:t>P41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3B8218F-7F46-4CB1-8D53-4E45B1F2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8768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(14/15,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DCE4E9E-1825-42C3-98A0-EBDAE54B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0768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0)T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E3E91AD-E2DA-4C7D-A61F-931C7AA2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467FC8B-B137-4036-AF4C-3D7B5F26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6577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P42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87AE6A7-8D8F-4EFD-9B82-6F89E410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768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(14/15,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2A6E010-C1BA-4DDA-B154-9A14219B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0768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1/10)T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5B716C6-453A-418D-9D2F-2F4521F8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5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DE008B1-FD88-480B-9493-08F28B7E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6577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5122"/>
                </a:solidFill>
              </a:defRPr>
            </a:pPr>
            <a:r>
              <a:rPr sz="1200" b="1">
                <a:solidFill>
                  <a:srgbClr val="C45122"/>
                </a:solidFill>
              </a:rPr>
              <a:t>P43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389146D-2862-4339-9F23-3680F5EA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8768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(14/15,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5153F8D-A803-415B-810F-F5EFA212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0768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5/6)T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3CBFDB0-9552-4379-9C82-38EEC91C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3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0A4DA20-BBD4-430E-9EB7-93FDF6C8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577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645"/>
                </a:solidFill>
              </a:defRPr>
            </a:pPr>
            <a:r>
              <a:rPr sz="1200" b="1">
                <a:solidFill>
                  <a:srgbClr val="247645"/>
                </a:solidFill>
              </a:rPr>
              <a:t>P44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452487C-9220-439D-9658-AB68DCFC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768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(14/15,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EEB02E1-4395-4D33-B1A1-0A7169A1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768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14/15)T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A68E3DB-01E9-4FFC-AA40-95E29FA5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578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7645"/>
                </a:solidFill>
              </a:defRPr>
            </a:pPr>
            <a:r>
              <a:rPr sz="1425" b="1">
                <a:solidFill>
                  <a:srgbClr val="247645"/>
                </a:solidFill>
              </a:rPr>
              <a:t>同一内部矩阵重复用于H1、H2、...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390EAD3-62B1-4AE8-91AB-422593B8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19200"/>
            <a:ext cx="3695700" cy="4686300"/>
          </a:xfrm>
          <a:prstGeom xmlns:a="http://schemas.openxmlformats.org/drawingml/2006/main" prst="roundRect">
            <a:avLst>
              <a:gd name="adj" fmla="val 3608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F5E5E73-A7C0-43E4-A26B-75304B8D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321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3  形成2-bit时变反射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C0A5819-0189-4F01-95CD-8589D60A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24025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E91"/>
                </a:solidFill>
              </a:defRPr>
            </a:pPr>
            <a:r>
              <a:rPr sz="1425" b="0">
                <a:solidFill>
                  <a:srgbClr val="667E91"/>
                </a:solidFill>
              </a:rPr>
              <a:t>每个子单元只有四种反射相位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83C8269-8E4A-4504-BBB0-E26E6D17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81225"/>
            <a:ext cx="6667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12383">
            <a:solidFill>
              <a:srgbClr val="1769A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8B8F921-8038-458E-AD4A-84413E99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57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0°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EC1B0CA-ADC0-44E5-8BFE-337EC1AC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81225"/>
            <a:ext cx="6667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3"/>
          </a:solidFill>
          <a:ln xmlns:a="http://schemas.openxmlformats.org/drawingml/2006/main" w="12383">
            <a:solidFill>
              <a:srgbClr val="24764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61DA9E5-368F-44B1-AAB7-C8270C67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57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7645"/>
                </a:solidFill>
              </a:defRPr>
            </a:pPr>
            <a:r>
              <a:rPr sz="1500" b="1">
                <a:solidFill>
                  <a:srgbClr val="247645"/>
                </a:solidFill>
              </a:rPr>
              <a:t>90°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5C0F1FB-9EC8-4B65-A4AA-3252F53A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81225"/>
            <a:ext cx="6667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E3D5"/>
          </a:solidFill>
          <a:ln xmlns:a="http://schemas.openxmlformats.org/drawingml/2006/main" w="12383">
            <a:solidFill>
              <a:srgbClr val="C45122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81E3887-DEB0-4FC2-B9A7-DA3F69A9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57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45122"/>
                </a:solidFill>
              </a:defRPr>
            </a:pPr>
            <a:r>
              <a:rPr sz="1500" b="1">
                <a:solidFill>
                  <a:srgbClr val="C45122"/>
                </a:solidFill>
              </a:rPr>
              <a:t>180°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7DBF5B5-3141-4B88-BF4B-D7C77352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81225"/>
            <a:ext cx="6667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2383">
            <a:solidFill>
              <a:srgbClr val="6B4BA1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3158DB1-EE27-4B76-8EB9-C97987F4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57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B4BA1"/>
                </a:solidFill>
              </a:defRPr>
            </a:pPr>
            <a:r>
              <a:rPr sz="1500" b="1">
                <a:solidFill>
                  <a:srgbClr val="6B4BA1"/>
                </a:solidFill>
              </a:rPr>
              <a:t>270°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7BFC25E-EDF3-4662-920C-F07DEA56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90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7645"/>
                </a:solidFill>
              </a:defRPr>
            </a:pPr>
            <a:r>
              <a:rPr sz="1575" b="1">
                <a:solidFill>
                  <a:srgbClr val="247645"/>
                </a:solidFill>
              </a:rPr>
              <a:t>延迟改变序列起点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BBE6E7D-D2A2-4B3E-81DF-2211F3C9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3E32"/>
                </a:solidFill>
              </a:defRPr>
            </a:pPr>
            <a:r>
              <a:rPr sz="1500" b="1">
                <a:solidFill>
                  <a:srgbClr val="B63E32"/>
                </a:solidFill>
              </a:rPr>
              <a:t>Hk改变两个调制频率</a:t>
            </a:r>
          </a:p>
        </p:txBody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0fe1e35ee4c8e">
            <a:extLst>
              <a:ext uri="{96DAC541-7B7A-43D3-8B79-37D633B846F1}">
                <asvg:svgBlip xmlns:asvg="http://schemas.microsoft.com/office/drawing/2016/SVG/main" r:embed="R76778512a10946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0" y="3590925"/>
            <a:ext cx="2714625" cy="304800"/>
          </a:xfrm>
          <a:prstGeom xmlns:a="http://schemas.openxmlformats.org/drawingml/2006/main" prst="rect">
            <a:avLst/>
          </a:prstGeom>
        </p:spPr>
      </p:pic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6506414-59B5-4EBC-A3B3-156325E8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E91"/>
                </a:solidFill>
              </a:defRPr>
            </a:pPr>
            <a:r>
              <a:rPr sz="1500" b="0">
                <a:solidFill>
                  <a:srgbClr val="667E91"/>
                </a:solidFill>
              </a:rPr>
              <a:t>从而决定回波搬移到哪里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8D775CA-742E-4CBF-BD3F-CBA184E8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71975"/>
            <a:ext cx="28384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2383">
            <a:solidFill>
              <a:srgbClr val="65A9D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656E6D5-DEB5-4190-9141-1034DEA3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67225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原始飞机回波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D787E55-A9C4-43DB-B130-3FA0F0D2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33925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9445C"/>
                </a:solidFill>
              </a:defRPr>
            </a:pPr>
            <a:r>
              <a:rPr sz="1425" b="0">
                <a:solidFill>
                  <a:srgbClr val="29445C"/>
                </a:solidFill>
              </a:rPr>
              <a:t>×  Hk的2-bit反射系数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AE97791-C589-4BEE-A030-592C8F93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815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产生SAR假目标</a:t>
            </a:r>
          </a:p>
        </p:txBody>
      </p:sp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85ded64b64dbf">
            <a:extLst>
              <a:ext uri="{96DAC541-7B7A-43D3-8B79-37D633B846F1}">
                <asvg:svgBlip xmlns:asvg="http://schemas.microsoft.com/office/drawing/2016/SVG/main" r:embed="Rd54d8e6ee23147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39375" y="5000625"/>
            <a:ext cx="952500" cy="266700"/>
          </a:xfrm>
          <a:prstGeom xmlns:a="http://schemas.openxmlformats.org/drawingml/2006/main" prst="rect">
            <a:avLst/>
          </a:prstGeom>
        </p:spPr>
      </p:pic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CA3817E-3048-406A-9651-575B9E76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391900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2383">
            <a:solidFill>
              <a:srgbClr val="9FC1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FA4EF2E-28C9-4FB5-B3A6-E99E139F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空间编码：哪个宏格分配哪个Hk    |    时间编码：Hk采用什么调制频率、方向和2-bit相位序列</a:t>
            </a:r>
          </a:p>
        </p:txBody>
      </p:sp>
    </p:spTree>
    <p:extLst>
      <p:ext uri="{BB962C8B-B14F-4D97-AF65-F5344CB8AC3E}">
        <p14:creationId xmlns:p14="http://schemas.microsoft.com/office/powerpoint/2010/main" val="734788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a5f6e6a2e42f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7638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a3eb1f932453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719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02c68df27486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448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bee37ccbd4d8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819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73aadded94f7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067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5e6ba0b9d438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9838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faa3826a345c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3910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004D57-19AB-4FB4-870A-049984B7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462C2-AD67-4A4B-ACD1-5CF81914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1135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24D"/>
                </a:solidFill>
              </a:defRPr>
            </a:pPr>
            <a:r>
              <a:rPr sz="3375" b="1">
                <a:solidFill>
                  <a:srgbClr val="17324D"/>
                </a:solidFill>
              </a:rPr>
              <a:t>一次完整计算：(+8 m, +8 m)如何变成2-bit状态11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78471-1AC8-43C1-80AE-FFE15F30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33425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A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49D25-FAAF-4F2F-88C1-C805305C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71525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E91"/>
                </a:solidFill>
              </a:defRPr>
            </a:pPr>
            <a:r>
              <a:rPr sz="1500" b="0">
                <a:solidFill>
                  <a:srgbClr val="667E91"/>
                </a:solidFill>
              </a:rPr>
              <a:t>示例采用H1与内部子单元P23；代码先分别量化距离、方位相位，再把两个反射系数相乘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7F05C-2997-4F00-9C12-B229712E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550545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4CDB8-A625-4196-B3EB-B4DBBDB6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1  目标偏移 → 调制频率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8df68589142ec">
            <a:extLst>
              <a:ext uri="{96DAC541-7B7A-43D3-8B79-37D633B846F1}">
                <asvg:svgBlip xmlns:asvg="http://schemas.microsoft.com/office/drawing/2016/SVG/main" r:embed="R57643d5da7a34f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1724025"/>
            <a:ext cx="5048250" cy="34290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64003a0ea46c5">
            <a:extLst>
              <a:ext uri="{96DAC541-7B7A-43D3-8B79-37D633B846F1}">
                <asvg:svgBlip xmlns:asvg="http://schemas.microsoft.com/office/drawing/2016/SVG/main" r:embed="R7ea717458a8a4de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2105025"/>
            <a:ext cx="5048250" cy="34290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a9cb1651f4148">
            <a:extLst>
              <a:ext uri="{96DAC541-7B7A-43D3-8B79-37D633B846F1}">
                <asvg:svgBlip xmlns:asvg="http://schemas.microsoft.com/office/drawing/2016/SVG/main" r:embed="R4433e5fe647e43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2486025"/>
            <a:ext cx="5048250" cy="3429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CFC0E-1D1F-496D-A271-A230CD98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19200"/>
            <a:ext cx="550545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B1F1C-4858-4018-932A-2E7F8C5B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3350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2  选择P23的距离/方位时延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930912b944f06">
            <a:extLst>
              <a:ext uri="{96DAC541-7B7A-43D3-8B79-37D633B846F1}">
                <asvg:svgBlip xmlns:asvg="http://schemas.microsoft.com/office/drawing/2016/SVG/main" r:embed="R689bd426092c47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15100" y="1724025"/>
            <a:ext cx="4953000" cy="32385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c09e43d494dba">
            <a:extLst>
              <a:ext uri="{96DAC541-7B7A-43D3-8B79-37D633B846F1}">
                <asvg:svgBlip xmlns:asvg="http://schemas.microsoft.com/office/drawing/2016/SVG/main" r:embed="R48dfa8bbb5b045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15100" y="2085975"/>
            <a:ext cx="4953000" cy="32385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1d80247ee47bb">
            <a:extLst>
              <a:ext uri="{96DAC541-7B7A-43D3-8B79-37D633B846F1}">
                <asvg:svgBlip xmlns:asvg="http://schemas.microsoft.com/office/drawing/2016/SVG/main" r:embed="Re1f51a4bd34547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15100" y="2447925"/>
            <a:ext cx="4953000" cy="32385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51c1a48df4fff">
            <a:extLst>
              <a:ext uri="{96DAC541-7B7A-43D3-8B79-37D633B846F1}">
                <asvg:svgBlip xmlns:asvg="http://schemas.microsoft.com/office/drawing/2016/SVG/main" r:embed="Rbf170c46521947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15100" y="2676525"/>
            <a:ext cx="4953000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3197E-8950-411A-B7F9-E9C82CE1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113919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71A7F-FCDE-4DD1-980D-7CBF5638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101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3  选取一个快/慢时间采样点，分别计算连续相位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8e6c061f845c5">
            <a:extLst>
              <a:ext uri="{96DAC541-7B7A-43D3-8B79-37D633B846F1}">
                <asvg:svgBlip xmlns:asvg="http://schemas.microsoft.com/office/drawing/2016/SVG/main" r:embed="R5a323254b5864e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38550"/>
            <a:ext cx="10820400" cy="36195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83dc12c3d488f">
            <a:extLst>
              <a:ext uri="{96DAC541-7B7A-43D3-8B79-37D633B846F1}">
                <asvg:svgBlip xmlns:asvg="http://schemas.microsoft.com/office/drawing/2016/SVG/main" r:embed="R9a0cc323e7f54b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038600"/>
            <a:ext cx="4762500" cy="32385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3404422824447">
            <a:extLst>
              <a:ext uri="{96DAC541-7B7A-43D3-8B79-37D633B846F1}">
                <asvg:svgBlip xmlns:asvg="http://schemas.microsoft.com/office/drawing/2016/SVG/main" r:embed="R647fcf981cf74f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343400"/>
            <a:ext cx="4762500" cy="2667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a360490014eb2">
            <a:extLst>
              <a:ext uri="{96DAC541-7B7A-43D3-8B79-37D633B846F1}">
                <asvg:svgBlip xmlns:asvg="http://schemas.microsoft.com/office/drawing/2016/SVG/main" r:embed="Rfbfa93a0c0d14f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19850" y="4038600"/>
            <a:ext cx="4762500" cy="32385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0f0062b6248f4">
            <a:extLst>
              <a:ext uri="{96DAC541-7B7A-43D3-8B79-37D633B846F1}">
                <asvg:svgBlip xmlns:asvg="http://schemas.microsoft.com/office/drawing/2016/SVG/main" r:embed="Rbbaaa261101c43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19850" y="4343400"/>
            <a:ext cx="47625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852D1-2590-4516-B063-1D5FEDFA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400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E91"/>
                </a:solidFill>
              </a:defRPr>
            </a:pPr>
            <a:r>
              <a:rPr sz="1275" b="0">
                <a:solidFill>
                  <a:srgbClr val="667E91"/>
                </a:solidFill>
              </a:rPr>
              <a:t>蓝/橙：目标偏移形成的调制项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A97B1B-33BF-48E3-8DE9-7107EB7B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2915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E91"/>
                </a:solidFill>
              </a:defRPr>
            </a:pPr>
            <a:r>
              <a:rPr sz="1275" b="0">
                <a:solidFill>
                  <a:srgbClr val="667E91"/>
                </a:solidFill>
              </a:rPr>
              <a:t>绿/紫：P23引入的距离与方位延迟项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5355B-2026-4BC9-9623-180389FD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139190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2383">
            <a:solidFill>
              <a:srgbClr val="8FBA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980858-8A0C-47D5-8FDC-49E02F71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0175"/>
            <a:ext cx="1101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4  量化为四种相位状态并相乘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59ea75cd74379">
            <a:extLst>
              <a:ext uri="{96DAC541-7B7A-43D3-8B79-37D633B846F1}">
                <asvg:svgBlip xmlns:asvg="http://schemas.microsoft.com/office/drawing/2016/SVG/main" r:embed="Rba4fb6e5234d4b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562600"/>
            <a:ext cx="10744200" cy="361950"/>
          </a:xfrm>
          <a:prstGeom xmlns:a="http://schemas.openxmlformats.org/drawingml/2006/main" prst="rect">
            <a:avLst/>
          </a:prstGeom>
        </p:spPr>
      </p:pic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8f2f6f9cc4b4d">
            <a:extLst>
              <a:ext uri="{96DAC541-7B7A-43D3-8B79-37D633B846F1}">
                <asvg:svgBlip xmlns:asvg="http://schemas.microsoft.com/office/drawing/2016/SVG/main" r:embed="Rf8bc7723d5ab4f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6000750"/>
            <a:ext cx="107442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44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2026-08-17T16:57:48.6770000Z</dcterms:created>
  <dcterms:modified xsi:type="dcterms:W3CDTF">2026-08-17T16:57:48.6770000Z</dcterms:modified>
</coreProperties>
</file>