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90107164984785" /><Relationship Type="http://schemas.openxmlformats.org/officeDocument/2006/relationships/extended-properties" Target="/docProps/app.xml" Id="R19f2ccd32d404ad6" /><Relationship Type="http://schemas.openxmlformats.org/officeDocument/2006/relationships/officeDocument" Target="/ppt/presentation.xml" Id="Ra4611e25a0c544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b493acd24243ec"/>
  </p:sldMasterIdLst>
  <p:notesMasterIdLst>
    <p:notesMasterId xmlns:r="http://schemas.openxmlformats.org/officeDocument/2006/relationships" r:id="Rab432fc43b6d4ff3"/>
  </p:notesMasterIdLst>
  <p:sldIdLst>
    <p:sldId xmlns:r="http://schemas.openxmlformats.org/officeDocument/2006/relationships" id="256" r:id="R2bfca6865205468b"/>
    <p:sldId xmlns:r="http://schemas.openxmlformats.org/officeDocument/2006/relationships" id="257" r:id="Rf47be40ce8d84b5c"/>
    <p:sldId xmlns:r="http://schemas.openxmlformats.org/officeDocument/2006/relationships" id="258" r:id="R8ce3362973e34adb"/>
    <p:sldId xmlns:r="http://schemas.openxmlformats.org/officeDocument/2006/relationships" id="259" r:id="Redd9cbdfe4484512"/>
    <p:sldId xmlns:r="http://schemas.openxmlformats.org/officeDocument/2006/relationships" id="260" r:id="R5b76bfa33fe04d3e"/>
    <p:sldId xmlns:r="http://schemas.openxmlformats.org/officeDocument/2006/relationships" id="261" r:id="Rd9904b4d1e0f44f6"/>
    <p:sldId xmlns:r="http://schemas.openxmlformats.org/officeDocument/2006/relationships" id="262" r:id="R7e4f7300a47c4527"/>
    <p:sldId xmlns:r="http://schemas.openxmlformats.org/officeDocument/2006/relationships" id="263" r:id="R9c92f410df134af8"/>
    <p:sldId xmlns:r="http://schemas.openxmlformats.org/officeDocument/2006/relationships" id="264" r:id="R5cc7a819dced4a94"/>
    <p:sldId xmlns:r="http://schemas.openxmlformats.org/officeDocument/2006/relationships" id="265" r:id="Re344c37544b24812"/>
    <p:sldId xmlns:r="http://schemas.openxmlformats.org/officeDocument/2006/relationships" id="266" r:id="R1c9f7168b74c43cf"/>
    <p:sldId xmlns:r="http://schemas.openxmlformats.org/officeDocument/2006/relationships" id="267" r:id="R192e9f87db504156"/>
    <p:sldId xmlns:r="http://schemas.openxmlformats.org/officeDocument/2006/relationships" id="268" r:id="Rb5b92eb23dbf4bea"/>
    <p:sldId xmlns:r="http://schemas.openxmlformats.org/officeDocument/2006/relationships" id="269" r:id="R2cb3ae23e8a947fd"/>
    <p:sldId xmlns:r="http://schemas.openxmlformats.org/officeDocument/2006/relationships" id="270" r:id="R4f9732ba73a74383"/>
    <p:sldId xmlns:r="http://schemas.openxmlformats.org/officeDocument/2006/relationships" id="271" r:id="R74f30295fba64d91"/>
    <p:sldId xmlns:r="http://schemas.openxmlformats.org/officeDocument/2006/relationships" id="272" r:id="R6425c1aa0f95434d"/>
    <p:sldId xmlns:r="http://schemas.openxmlformats.org/officeDocument/2006/relationships" id="273" r:id="Rdcc878b6adf74e33"/>
    <p:sldId xmlns:r="http://schemas.openxmlformats.org/officeDocument/2006/relationships" id="274" r:id="R857185123a144fe2"/>
    <p:sldId xmlns:r="http://schemas.openxmlformats.org/officeDocument/2006/relationships" id="275" r:id="R66680197c7f842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c5ec3321024503" /><Relationship Type="http://schemas.openxmlformats.org/officeDocument/2006/relationships/slideMaster" Target="/ppt/slideMasters/slideMaster1.xml" Id="R27b493acd24243ec" /><Relationship Type="http://schemas.openxmlformats.org/officeDocument/2006/relationships/notesMaster" Target="/ppt/notesMasters/notesMaster1.xml" Id="Rab432fc43b6d4ff3" /><Relationship Type="http://schemas.openxmlformats.org/officeDocument/2006/relationships/presProps" Target="/ppt/presProps.xml" Id="R92b477afd31a4ba6" /><Relationship Type="http://schemas.openxmlformats.org/officeDocument/2006/relationships/tableStyles" Target="/ppt/tableStyles.xml" Id="R42ddaac5a25f496e" /><Relationship Type="http://schemas.openxmlformats.org/officeDocument/2006/relationships/slide" Target="/ppt/slides/slide1.xml" Id="R2bfca6865205468b" /><Relationship Type="http://schemas.openxmlformats.org/officeDocument/2006/relationships/slide" Target="/ppt/slides/slide2.xml" Id="Rf47be40ce8d84b5c" /><Relationship Type="http://schemas.openxmlformats.org/officeDocument/2006/relationships/slide" Target="/ppt/slides/slide3.xml" Id="R8ce3362973e34adb" /><Relationship Type="http://schemas.openxmlformats.org/officeDocument/2006/relationships/slide" Target="/ppt/slides/slide4.xml" Id="Redd9cbdfe4484512" /><Relationship Type="http://schemas.openxmlformats.org/officeDocument/2006/relationships/slide" Target="/ppt/slides/slide5.xml" Id="R5b76bfa33fe04d3e" /><Relationship Type="http://schemas.openxmlformats.org/officeDocument/2006/relationships/slide" Target="/ppt/slides/slide6.xml" Id="Rd9904b4d1e0f44f6" /><Relationship Type="http://schemas.openxmlformats.org/officeDocument/2006/relationships/slide" Target="/ppt/slides/slide7.xml" Id="R7e4f7300a47c4527" /><Relationship Type="http://schemas.openxmlformats.org/officeDocument/2006/relationships/slide" Target="/ppt/slides/slide8.xml" Id="R9c92f410df134af8" /><Relationship Type="http://schemas.openxmlformats.org/officeDocument/2006/relationships/slide" Target="/ppt/slides/slide9.xml" Id="R5cc7a819dced4a94" /><Relationship Type="http://schemas.openxmlformats.org/officeDocument/2006/relationships/slide" Target="/ppt/slides/slide10.xml" Id="Re344c37544b24812" /><Relationship Type="http://schemas.openxmlformats.org/officeDocument/2006/relationships/slide" Target="/ppt/slides/slide11.xml" Id="R1c9f7168b74c43cf" /><Relationship Type="http://schemas.openxmlformats.org/officeDocument/2006/relationships/slide" Target="/ppt/slides/slide12.xml" Id="R192e9f87db504156" /><Relationship Type="http://schemas.openxmlformats.org/officeDocument/2006/relationships/slide" Target="/ppt/slides/slide13.xml" Id="Rb5b92eb23dbf4bea" /><Relationship Type="http://schemas.openxmlformats.org/officeDocument/2006/relationships/slide" Target="/ppt/slides/slide14.xml" Id="R2cb3ae23e8a947fd" /><Relationship Type="http://schemas.openxmlformats.org/officeDocument/2006/relationships/slide" Target="/ppt/slides/slide15.xml" Id="R4f9732ba73a74383" /><Relationship Type="http://schemas.openxmlformats.org/officeDocument/2006/relationships/slide" Target="/ppt/slides/slide16.xml" Id="R74f30295fba64d91" /><Relationship Type="http://schemas.openxmlformats.org/officeDocument/2006/relationships/slide" Target="/ppt/slides/slide17.xml" Id="R6425c1aa0f95434d" /><Relationship Type="http://schemas.openxmlformats.org/officeDocument/2006/relationships/slide" Target="/ppt/slides/slide18.xml" Id="Rdcc878b6adf74e33" /><Relationship Type="http://schemas.openxmlformats.org/officeDocument/2006/relationships/slide" Target="/ppt/slides/slide19.xml" Id="R857185123a144fe2" /><Relationship Type="http://schemas.openxmlformats.org/officeDocument/2006/relationships/slide" Target="/ppt/slides/slide20.xml" Id="R66680197c7f842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a4965ce09c42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d10639ea0b41df" /><Relationship Type="http://schemas.openxmlformats.org/officeDocument/2006/relationships/notesMaster" Target="/ppt/notesMasters/notesMaster1.xml" Id="Ra07a3ca551994a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986a3482c542db" /><Relationship Type="http://schemas.openxmlformats.org/officeDocument/2006/relationships/notesMaster" Target="/ppt/notesMasters/notesMaster1.xml" Id="R92f9acd520c248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a6946e6da4cf6" /><Relationship Type="http://schemas.openxmlformats.org/officeDocument/2006/relationships/notesMaster" Target="/ppt/notesMasters/notesMaster1.xml" Id="Rfb2e8933236f48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16a3803da3463b" /><Relationship Type="http://schemas.openxmlformats.org/officeDocument/2006/relationships/notesMaster" Target="/ppt/notesMasters/notesMaster1.xml" Id="R7f525cb37aa84f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ba7a5250554949" /><Relationship Type="http://schemas.openxmlformats.org/officeDocument/2006/relationships/notesMaster" Target="/ppt/notesMasters/notesMaster1.xml" Id="Rb24846463c1c48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129a90de484e87" /><Relationship Type="http://schemas.openxmlformats.org/officeDocument/2006/relationships/notesMaster" Target="/ppt/notesMasters/notesMaster1.xml" Id="R14990291fa474f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7ee365f4ee4cb6" /><Relationship Type="http://schemas.openxmlformats.org/officeDocument/2006/relationships/notesMaster" Target="/ppt/notesMasters/notesMaster1.xml" Id="R6627c6b0441949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c85bd828cd44e7" /><Relationship Type="http://schemas.openxmlformats.org/officeDocument/2006/relationships/notesMaster" Target="/ppt/notesMasters/notesMaster1.xml" Id="R9c4bbff871f641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b1911f22214db2" /><Relationship Type="http://schemas.openxmlformats.org/officeDocument/2006/relationships/notesMaster" Target="/ppt/notesMasters/notesMaster1.xml" Id="R85ff16cf99f948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87bbbcbd50543e3" /><Relationship Type="http://schemas.openxmlformats.org/officeDocument/2006/relationships/notesMaster" Target="/ppt/notesMasters/notesMaster1.xml" Id="R4cd42e5b7cf840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a44d4ee1a04d37" /><Relationship Type="http://schemas.openxmlformats.org/officeDocument/2006/relationships/notesMaster" Target="/ppt/notesMasters/notesMaster1.xml" Id="Rafa9c9aaca8b4b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f19e5016384693" /><Relationship Type="http://schemas.openxmlformats.org/officeDocument/2006/relationships/notesMaster" Target="/ppt/notesMasters/notesMaster1.xml" Id="R9ccfd940ab6c46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50490c8bfd4e4c" /><Relationship Type="http://schemas.openxmlformats.org/officeDocument/2006/relationships/notesMaster" Target="/ppt/notesMasters/notesMaster1.xml" Id="R426c2dd9b27041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d4a9ab6af0467e" /><Relationship Type="http://schemas.openxmlformats.org/officeDocument/2006/relationships/notesMaster" Target="/ppt/notesMasters/notesMaster1.xml" Id="Ree22fd375f6c47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8a7806f0794c53" /><Relationship Type="http://schemas.openxmlformats.org/officeDocument/2006/relationships/notesMaster" Target="/ppt/notesMasters/notesMaster1.xml" Id="R92af2dfd9d6f43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b784489db54284" /><Relationship Type="http://schemas.openxmlformats.org/officeDocument/2006/relationships/notesMaster" Target="/ppt/notesMasters/notesMaster1.xml" Id="R2bc94f6f999c40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c6fbe613c9c4809" /><Relationship Type="http://schemas.openxmlformats.org/officeDocument/2006/relationships/notesMaster" Target="/ppt/notesMasters/notesMaster1.xml" Id="R1d59635edb254d2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86f770470b41f3" /><Relationship Type="http://schemas.openxmlformats.org/officeDocument/2006/relationships/notesMaster" Target="/ppt/notesMasters/notesMaster1.xml" Id="Rc0fe51e03f0643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6fda361ed94a98" /><Relationship Type="http://schemas.openxmlformats.org/officeDocument/2006/relationships/notesMaster" Target="/ppt/notesMasters/notesMaster1.xml" Id="Ra7caec1e1e2d450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471c5445b4b4b54" /><Relationship Type="http://schemas.openxmlformats.org/officeDocument/2006/relationships/notesMaster" Target="/ppt/notesMasters/notesMaster1.xml" Id="R04ce0c0a3d1844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MATLAB model: run_full_array_freedom_study.m</a:t>
            </a:r>
          </a:p>
          <a:p xmlns:a="http://schemas.openxmlformats.org/drawingml/2006/main">
            <a:r>
              <a:t>- Local control tables: results_full_array_exact/control_tables/single_1to2_channels.csv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single_aircraft_redesign_figures/1to1_high_contrast.png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single_aircraft_redesign_figures/1to2_high_contrast.png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single_aircraft_redesign_figures/1to3_high_contrast.png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single_aircraft_redesign_figures/1to4_high_contrast.png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single_aircraft_redesign_figures/1to5_high_contrast.png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single_aircraft_redesign_figures/1to9_high_contrast.png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single_aircraft_redesign_figures/1to16_high_contrast.png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MATLAB parameters and quantizer: run_full_array_freedom_study.m</a:t>
            </a:r>
          </a:p>
          <a:p xmlns:a="http://schemas.openxmlformats.org/drawingml/2006/main">
            <a:r>
              <a:t>- Local channel values: results_full_array_exact/control_tables/single_1to1_channels.csv</a:t>
            </a:r>
          </a:p>
          <a:p xmlns:a="http://schemas.openxmlformats.org/drawingml/2006/main">
            <a:r>
              <a:t>- Calculation uses P23 with d_r=1/10 and d_a=5/6 at tau=0.30T_r and eta=0.20T_a.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MATLAB model: run_full_array_freedom_study.m, Section 5</a:t>
            </a:r>
          </a:p>
          <a:p xmlns:a="http://schemas.openxmlformats.org/drawingml/2006/main">
            <a:r>
              <a:t>- Local result: results_full_array_exact/two_aircraft_line_freedom.png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results_full_array_exact/two_aircraft_line_freedom.png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results_full_array_exact/two_aircraft_line_freedom.png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results_full_array_exact/two_aircraft_line_freedom.png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MATLAB model: run_full_array_freedom_study.m, Section 6</a:t>
            </a:r>
          </a:p>
          <a:p xmlns:a="http://schemas.openxmlformats.org/drawingml/2006/main">
            <a:r>
              <a:t>- Local result: results_full_array_exact/four_aircraft_7x7_to16_pair.png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results_full_array_exact/four_aircraft_7x7_to16_pair.png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results_full_array_exact/physical_supercells_compare.png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results_full_array_exact/arbitrary_heart_pair.png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results_full_array_exact/arbitrary_arrow_pair.png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figure: results_full_array_exact/arbitrary_phone_pair.png</a:t>
            </a:r>
          </a:p>
          <a:p xmlns:a="http://schemas.openxmlformats.org/drawingml/2006/main">
            <a:r>
              <a:t>- Local MATLAB model: run_full_array_freedom_study.m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MATLAB model: run_full_array_freedom_study.m</a:t>
            </a:r>
          </a:p>
          <a:p xmlns:a="http://schemas.openxmlformats.org/drawingml/2006/main">
            <a:r>
              <a:t>- Local results directory: results_full_array_exact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6b330d51145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1488d82c4e4119" /><Relationship Type="http://schemas.openxmlformats.org/officeDocument/2006/relationships/slideLayout" Target="/ppt/slideLayouts/slideLayout1.xml" Id="Rdd3321990f5649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3321990f5649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2cf0216bb48c1" /><Relationship Type="http://schemas.openxmlformats.org/officeDocument/2006/relationships/image" Target="/ppt/media/image.png" Id="R54330108b3024695" /><Relationship Type="http://schemas.openxmlformats.org/officeDocument/2006/relationships/image" Target="/ppt/media/image.svg" Id="R17bee21cc16545c8" /><Relationship Type="http://schemas.openxmlformats.org/officeDocument/2006/relationships/image" Target="/ppt/media/image2.png" Id="R3dda0b15647a482a" /><Relationship Type="http://schemas.openxmlformats.org/officeDocument/2006/relationships/image" Target="/ppt/media/image2.svg" Id="R43883379e9e44072" /><Relationship Type="http://schemas.openxmlformats.org/officeDocument/2006/relationships/image" Target="/ppt/media/image3.png" Id="R39993fae3a17402f" /><Relationship Type="http://schemas.openxmlformats.org/officeDocument/2006/relationships/image" Target="/ppt/media/image3.svg" Id="R8f2e6801cd7c4048" /><Relationship Type="http://schemas.openxmlformats.org/officeDocument/2006/relationships/image" Target="/ppt/media/image4.png" Id="Rd06aa3802b324c12" /><Relationship Type="http://schemas.openxmlformats.org/officeDocument/2006/relationships/image" Target="/ppt/media/image4.svg" Id="Rcff56782db7d4f87" /><Relationship Type="http://schemas.openxmlformats.org/officeDocument/2006/relationships/image" Target="/ppt/media/image5.png" Id="Rc5a18d4374874bfb" /><Relationship Type="http://schemas.openxmlformats.org/officeDocument/2006/relationships/image" Target="/ppt/media/image5.svg" Id="R848ce09aeb0744e1" /><Relationship Type="http://schemas.openxmlformats.org/officeDocument/2006/relationships/image" Target="/ppt/media/image6.png" Id="Rdb09bbb389504efc" /><Relationship Type="http://schemas.openxmlformats.org/officeDocument/2006/relationships/image" Target="/ppt/media/image6.svg" Id="Rf119bf18c7af49a5" /><Relationship Type="http://schemas.openxmlformats.org/officeDocument/2006/relationships/image" Target="/ppt/media/image7.png" Id="R6184feb45a7d45f5" /><Relationship Type="http://schemas.openxmlformats.org/officeDocument/2006/relationships/image" Target="/ppt/media/image7.svg" Id="R84b797bc0eac49aa" /><Relationship Type="http://schemas.openxmlformats.org/officeDocument/2006/relationships/image" Target="/ppt/media/image8.png" Id="Ra6246659645e4f08" /><Relationship Type="http://schemas.openxmlformats.org/officeDocument/2006/relationships/image" Target="/ppt/media/image8.svg" Id="R05fb6ca7225c4982" /><Relationship Type="http://schemas.openxmlformats.org/officeDocument/2006/relationships/image" Target="/ppt/media/image9.png" Id="R0b72dcda18d64003" /><Relationship Type="http://schemas.openxmlformats.org/officeDocument/2006/relationships/image" Target="/ppt/media/image9.svg" Id="R0473d7ff14cc4e20" /><Relationship Type="http://schemas.openxmlformats.org/officeDocument/2006/relationships/image" Target="/ppt/media/image10.png" Id="Rd252cb68726840d1" /><Relationship Type="http://schemas.openxmlformats.org/officeDocument/2006/relationships/image" Target="/ppt/media/image10.svg" Id="R54b242de7fea4344" /><Relationship Type="http://schemas.openxmlformats.org/officeDocument/2006/relationships/image" Target="/ppt/media/image11.png" Id="R621b29548fc645a8" /><Relationship Type="http://schemas.openxmlformats.org/officeDocument/2006/relationships/image" Target="/ppt/media/image11.svg" Id="R1af34ecd44fe4586" /><Relationship Type="http://schemas.openxmlformats.org/officeDocument/2006/relationships/image" Target="/ppt/media/image12.png" Id="Rc5633cf26d584b91" /><Relationship Type="http://schemas.openxmlformats.org/officeDocument/2006/relationships/image" Target="/ppt/media/image12.svg" Id="Rdb1b357c23d0494a" /><Relationship Type="http://schemas.openxmlformats.org/officeDocument/2006/relationships/image" Target="/ppt/media/image13.png" Id="Rca240488e5964a65" /><Relationship Type="http://schemas.openxmlformats.org/officeDocument/2006/relationships/image" Target="/ppt/media/image13.svg" Id="Rebc5b2c2cf2f4e03" /><Relationship Type="http://schemas.openxmlformats.org/officeDocument/2006/relationships/image" Target="/ppt/media/image14.png" Id="Rbf8173da33584316" /><Relationship Type="http://schemas.openxmlformats.org/officeDocument/2006/relationships/image" Target="/ppt/media/image14.svg" Id="R866ee5fae2454b25" /><Relationship Type="http://schemas.openxmlformats.org/officeDocument/2006/relationships/image" Target="/ppt/media/image15.png" Id="R4709a49316424cb6" /><Relationship Type="http://schemas.openxmlformats.org/officeDocument/2006/relationships/image" Target="/ppt/media/image15.svg" Id="R23102a9c0bba4627" /><Relationship Type="http://schemas.openxmlformats.org/officeDocument/2006/relationships/notesSlide" Target="/ppt/notesSlides/notesSlide1.xml" Id="Rc9ffb3f5463646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df09c1bdf4fb4" /><Relationship Type="http://schemas.openxmlformats.org/officeDocument/2006/relationships/image" Target="/ppt/media/image16.png" Id="Rf22c00f730d64027" /><Relationship Type="http://schemas.openxmlformats.org/officeDocument/2006/relationships/notesSlide" Target="/ppt/notesSlides/notesSlide2.xml" Id="R7a158836a5dd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04d4b4a424109" /><Relationship Type="http://schemas.openxmlformats.org/officeDocument/2006/relationships/image" Target="/ppt/media/image17.png" Id="Rb41090ed15074196" /><Relationship Type="http://schemas.openxmlformats.org/officeDocument/2006/relationships/notesSlide" Target="/ppt/notesSlides/notesSlide3.xml" Id="R9d8351c96b8843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60d32187c46e6" /><Relationship Type="http://schemas.openxmlformats.org/officeDocument/2006/relationships/image" Target="/ppt/media/image18.png" Id="R8617f1e17bb54ae3" /><Relationship Type="http://schemas.openxmlformats.org/officeDocument/2006/relationships/notesSlide" Target="/ppt/notesSlides/notesSlide4.xml" Id="R28963c631e9345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c36dd23014e1b" /><Relationship Type="http://schemas.openxmlformats.org/officeDocument/2006/relationships/image" Target="/ppt/media/image19.png" Id="R83c33069abd44abf" /><Relationship Type="http://schemas.openxmlformats.org/officeDocument/2006/relationships/notesSlide" Target="/ppt/notesSlides/notesSlide5.xml" Id="R773497c6dcb14a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4ccd2ab4a4182" /><Relationship Type="http://schemas.openxmlformats.org/officeDocument/2006/relationships/image" Target="/ppt/media/image20.png" Id="R9021b3f4494d46f0" /><Relationship Type="http://schemas.openxmlformats.org/officeDocument/2006/relationships/notesSlide" Target="/ppt/notesSlides/notesSlide6.xml" Id="Rfa6cbc8f30d54e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17150abaa4808" /><Relationship Type="http://schemas.openxmlformats.org/officeDocument/2006/relationships/image" Target="/ppt/media/image21.png" Id="Ra32482b0162a484e" /><Relationship Type="http://schemas.openxmlformats.org/officeDocument/2006/relationships/notesSlide" Target="/ppt/notesSlides/notesSlide7.xml" Id="R73346a4804c54f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9d3672cb24e68" /><Relationship Type="http://schemas.openxmlformats.org/officeDocument/2006/relationships/image" Target="/ppt/media/image22.png" Id="R910a80f42ab149da" /><Relationship Type="http://schemas.openxmlformats.org/officeDocument/2006/relationships/notesSlide" Target="/ppt/notesSlides/notesSlide8.xml" Id="Rf947ff9674be42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90123710d42a0" /><Relationship Type="http://schemas.openxmlformats.org/officeDocument/2006/relationships/image" Target="/ppt/media/image23.png" Id="Rd401f7562c2d493f" /><Relationship Type="http://schemas.openxmlformats.org/officeDocument/2006/relationships/image" Target="/ppt/media/image16.svg" Id="Rcd17f4ec36a64791" /><Relationship Type="http://schemas.openxmlformats.org/officeDocument/2006/relationships/image" Target="/ppt/media/image24.png" Id="Rdcc50c6e9b89424c" /><Relationship Type="http://schemas.openxmlformats.org/officeDocument/2006/relationships/image" Target="/ppt/media/image17.svg" Id="R19675f7b7b4945e6" /><Relationship Type="http://schemas.openxmlformats.org/officeDocument/2006/relationships/image" Target="/ppt/media/image25.png" Id="Rf6b6b57388254cab" /><Relationship Type="http://schemas.openxmlformats.org/officeDocument/2006/relationships/image" Target="/ppt/media/image18.svg" Id="R04f403d21e9c4c2e" /><Relationship Type="http://schemas.openxmlformats.org/officeDocument/2006/relationships/image" Target="/ppt/media/image26.png" Id="R59ad6b5cb6bf4867" /><Relationship Type="http://schemas.openxmlformats.org/officeDocument/2006/relationships/image" Target="/ppt/media/image19.svg" Id="R7e0539df46d34b32" /><Relationship Type="http://schemas.openxmlformats.org/officeDocument/2006/relationships/image" Target="/ppt/media/image27.png" Id="R23f315671fbc4dd2" /><Relationship Type="http://schemas.openxmlformats.org/officeDocument/2006/relationships/image" Target="/ppt/media/image20.svg" Id="R46222a0f1dfc43d0" /><Relationship Type="http://schemas.openxmlformats.org/officeDocument/2006/relationships/image" Target="/ppt/media/image28.png" Id="R648bcf0234c54d5d" /><Relationship Type="http://schemas.openxmlformats.org/officeDocument/2006/relationships/image" Target="/ppt/media/image21.svg" Id="Re80f92b46bdb417a" /><Relationship Type="http://schemas.openxmlformats.org/officeDocument/2006/relationships/image" Target="/ppt/media/image29.png" Id="R0fb488b9656e49b0" /><Relationship Type="http://schemas.openxmlformats.org/officeDocument/2006/relationships/image" Target="/ppt/media/image22.svg" Id="R39f43b14867d43c0" /><Relationship Type="http://schemas.openxmlformats.org/officeDocument/2006/relationships/image" Target="/ppt/media/image30.png" Id="R892d13b589c6426a" /><Relationship Type="http://schemas.openxmlformats.org/officeDocument/2006/relationships/image" Target="/ppt/media/image23.svg" Id="R554defb0b7b64948" /><Relationship Type="http://schemas.openxmlformats.org/officeDocument/2006/relationships/image" Target="/ppt/media/image31.png" Id="R84e0416c2ddd41ea" /><Relationship Type="http://schemas.openxmlformats.org/officeDocument/2006/relationships/image" Target="/ppt/media/image24.svg" Id="R90c886acfdf14edd" /><Relationship Type="http://schemas.openxmlformats.org/officeDocument/2006/relationships/image" Target="/ppt/media/image32.png" Id="Rea0d3a01e2864fed" /><Relationship Type="http://schemas.openxmlformats.org/officeDocument/2006/relationships/image" Target="/ppt/media/image25.svg" Id="R03a1df4f11dd4de5" /><Relationship Type="http://schemas.openxmlformats.org/officeDocument/2006/relationships/image" Target="/ppt/media/image33.png" Id="Ra62e2a1311cf417b" /><Relationship Type="http://schemas.openxmlformats.org/officeDocument/2006/relationships/image" Target="/ppt/media/image26.svg" Id="R5fb4638284814587" /><Relationship Type="http://schemas.openxmlformats.org/officeDocument/2006/relationships/image" Target="/ppt/media/image34.png" Id="Rd0c7f8169f994d77" /><Relationship Type="http://schemas.openxmlformats.org/officeDocument/2006/relationships/image" Target="/ppt/media/image27.svg" Id="R695068d6601b4484" /><Relationship Type="http://schemas.openxmlformats.org/officeDocument/2006/relationships/image" Target="/ppt/media/image35.png" Id="Re62f65b1c01546b6" /><Relationship Type="http://schemas.openxmlformats.org/officeDocument/2006/relationships/image" Target="/ppt/media/image28.svg" Id="Rc9603450e0ae4a06" /><Relationship Type="http://schemas.openxmlformats.org/officeDocument/2006/relationships/image" Target="/ppt/media/image36.png" Id="R91316b26b4024c81" /><Relationship Type="http://schemas.openxmlformats.org/officeDocument/2006/relationships/image" Target="/ppt/media/image29.svg" Id="R094fd8fcac9f48aa" /><Relationship Type="http://schemas.openxmlformats.org/officeDocument/2006/relationships/notesSlide" Target="/ppt/notesSlides/notesSlide9.xml" Id="R3aa3bbee04ea49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058fca6df46f0" /><Relationship Type="http://schemas.openxmlformats.org/officeDocument/2006/relationships/image" Target="/ppt/media/image37.png" Id="R28995c88c7724f5b" /><Relationship Type="http://schemas.openxmlformats.org/officeDocument/2006/relationships/image" Target="/ppt/media/image30.svg" Id="R9882748792384539" /><Relationship Type="http://schemas.openxmlformats.org/officeDocument/2006/relationships/notesSlide" Target="/ppt/notesSlides/notesSlide10.xml" Id="R28a63b31db7640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a7f6fa4a34d84" /><Relationship Type="http://schemas.openxmlformats.org/officeDocument/2006/relationships/image" Target="/ppt/media/image38.png" Id="R4e70159a37154820" /><Relationship Type="http://schemas.openxmlformats.org/officeDocument/2006/relationships/image" Target="/ppt/media/image39.png" Id="Rf98ed1441666497f" /><Relationship Type="http://schemas.openxmlformats.org/officeDocument/2006/relationships/image" Target="/ppt/media/image31.svg" Id="R5899c320ad9343e5" /><Relationship Type="http://schemas.openxmlformats.org/officeDocument/2006/relationships/notesSlide" Target="/ppt/notesSlides/notesSlide11.xml" Id="Rde84cc19275b4c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0ebe23af24011" /><Relationship Type="http://schemas.openxmlformats.org/officeDocument/2006/relationships/image" Target="/ppt/media/image40.png" Id="R99834cabd2cc4bae" /><Relationship Type="http://schemas.openxmlformats.org/officeDocument/2006/relationships/image" Target="/ppt/media/image41.png" Id="Rc766867f6a614a56" /><Relationship Type="http://schemas.openxmlformats.org/officeDocument/2006/relationships/image" Target="/ppt/media/image32.svg" Id="R108e88c7353a4c39" /><Relationship Type="http://schemas.openxmlformats.org/officeDocument/2006/relationships/notesSlide" Target="/ppt/notesSlides/notesSlide12.xml" Id="R28c6b8b2803949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eead8ada4471a" /><Relationship Type="http://schemas.openxmlformats.org/officeDocument/2006/relationships/image" Target="/ppt/media/image42.png" Id="R1a8ecfbbcba046e6" /><Relationship Type="http://schemas.openxmlformats.org/officeDocument/2006/relationships/image" Target="/ppt/media/image43.png" Id="R993e46d414494aac" /><Relationship Type="http://schemas.openxmlformats.org/officeDocument/2006/relationships/image" Target="/ppt/media/image33.svg" Id="Rbf351840f02b4381" /><Relationship Type="http://schemas.openxmlformats.org/officeDocument/2006/relationships/notesSlide" Target="/ppt/notesSlides/notesSlide13.xml" Id="R53065d752e074d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2f40f7d3b44ae" /><Relationship Type="http://schemas.openxmlformats.org/officeDocument/2006/relationships/notesSlide" Target="/ppt/notesSlides/notesSlide14.xml" Id="R697c80aff92248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d707e6d714c42" /><Relationship Type="http://schemas.openxmlformats.org/officeDocument/2006/relationships/image" Target="/ppt/media/image44.png" Id="R44556cf2df7140f9" /><Relationship Type="http://schemas.openxmlformats.org/officeDocument/2006/relationships/notesSlide" Target="/ppt/notesSlides/notesSlide15.xml" Id="Raf00873a35e149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818861f3d4ee5" /><Relationship Type="http://schemas.openxmlformats.org/officeDocument/2006/relationships/image" Target="/ppt/media/image45.png" Id="R87de9519cbe743b3" /><Relationship Type="http://schemas.openxmlformats.org/officeDocument/2006/relationships/notesSlide" Target="/ppt/notesSlides/notesSlide16.xml" Id="R4cca71b1ee3e4b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4abcabea04dc6" /><Relationship Type="http://schemas.openxmlformats.org/officeDocument/2006/relationships/image" Target="/ppt/media/image46.png" Id="R1979a1d415ce47af" /><Relationship Type="http://schemas.openxmlformats.org/officeDocument/2006/relationships/notesSlide" Target="/ppt/notesSlides/notesSlide17.xml" Id="R32dc4add6da043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1dd68c7884363" /><Relationship Type="http://schemas.openxmlformats.org/officeDocument/2006/relationships/image" Target="/ppt/media/image47.png" Id="Rb4bf56b630aa4973" /><Relationship Type="http://schemas.openxmlformats.org/officeDocument/2006/relationships/notesSlide" Target="/ppt/notesSlides/notesSlide18.xml" Id="Rf4f26521ad154b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3b2ac1fc84451" /><Relationship Type="http://schemas.openxmlformats.org/officeDocument/2006/relationships/image" Target="/ppt/media/image48.png" Id="Rdd5466e602b045e3" /><Relationship Type="http://schemas.openxmlformats.org/officeDocument/2006/relationships/notesSlide" Target="/ppt/notesSlides/notesSlide19.xml" Id="R10151db8f51d498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cc1aad6e249af" /><Relationship Type="http://schemas.openxmlformats.org/officeDocument/2006/relationships/image" Target="/ppt/media/image49.png" Id="Re13a638822d84966" /><Relationship Type="http://schemas.openxmlformats.org/officeDocument/2006/relationships/image" Target="/ppt/media/image34.svg" Id="Ref2ac446b80e455c" /><Relationship Type="http://schemas.openxmlformats.org/officeDocument/2006/relationships/notesSlide" Target="/ppt/notesSlides/notesSlide20.xml" Id="Rda6e47d1a06040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C84A64B-8997-47DE-A8B9-7D78F54E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82DD8-528F-48DC-9C99-472B3DEC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Hk是一条完整的假目标通道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A2820-DBD6-4D78-AE60-849B23E1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1ABB5-9CEA-4BFA-9E03-67FB6665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所有Hk共用同一套4×4内部延迟模板；目标位置由时间调制频率和方向决定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E83C6-98BB-467D-AC02-0B8ACD24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E91"/>
                </a:solidFill>
              </a:defRPr>
            </a:pPr>
            <a:r>
              <a:rPr sz="2250" b="1">
                <a:solidFill>
                  <a:srgbClr val="667E91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1019F-A7EC-4A21-B544-567725AD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E91"/>
                </a:solidFill>
              </a:defRPr>
            </a:pPr>
            <a:r>
              <a:rPr sz="2250" b="1">
                <a:solidFill>
                  <a:srgbClr val="667E91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467B7-FCAA-4E1B-AF8F-91DE6BD3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2667000" cy="4686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45B5B-58E6-4239-851D-A6191F38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1  定义通道Hk</a:t>
            </a:r>
          </a:p>
        </p:txBody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30108b3024695">
            <a:extLst>
              <a:ext uri="{96DAC541-7B7A-43D3-8B79-37D633B846F1}">
                <asvg:svgBlip xmlns:asvg="http://schemas.microsoft.com/office/drawing/2016/SVG/main" r:embed="R17bee21cc16545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66750" y="1847850"/>
            <a:ext cx="2143125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5C70E-4A4B-45CA-A986-DA3B0B2B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95525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E91"/>
                </a:solidFill>
              </a:defRPr>
            </a:pPr>
            <a:r>
              <a:rPr sz="1425" b="0">
                <a:solidFill>
                  <a:srgbClr val="667E91"/>
                </a:solidFill>
              </a:rPr>
              <a:t>指定SAR中的假目标中心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D1C1D-BBAF-40E0-A807-E4187437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133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1769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B83D9-9C36-4488-A6E0-19E903D4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670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69AA"/>
                </a:solidFill>
              </a:defRPr>
            </a:pPr>
            <a:r>
              <a:rPr sz="2025" b="1">
                <a:solidFill>
                  <a:srgbClr val="1769AA"/>
                </a:solidFill>
              </a:rPr>
              <a:t>H1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74D45-8B99-4532-A731-AB8B55E4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9445C"/>
                </a:solidFill>
              </a:defRPr>
            </a:pPr>
            <a:r>
              <a:rPr sz="1425" b="1">
                <a:solidFill>
                  <a:srgbClr val="29445C"/>
                </a:solidFill>
              </a:rPr>
              <a:t>目标 (-8, +8) m</a:t>
            </a:r>
          </a:p>
        </p:txBody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a0b15647a482a">
            <a:extLst>
              <a:ext uri="{96DAC541-7B7A-43D3-8B79-37D633B846F1}">
                <asvg:svgBlip xmlns:asvg="http://schemas.microsoft.com/office/drawing/2016/SVG/main" r:embed="R43883379e9e440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3457575"/>
            <a:ext cx="1762125" cy="247650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93fae3a17402f">
            <a:extLst>
              <a:ext uri="{96DAC541-7B7A-43D3-8B79-37D633B846F1}">
                <asvg:svgBlip xmlns:asvg="http://schemas.microsoft.com/office/drawing/2016/SVG/main" r:embed="R8f2e6801cd7c40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3705225"/>
            <a:ext cx="1762125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2E5C6-74F5-4ED0-868C-9D0E4267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1336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C4512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7EAD66-A119-43AA-826F-EEDE8430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45122"/>
                </a:solidFill>
              </a:defRPr>
            </a:pPr>
            <a:r>
              <a:rPr sz="2025" b="1">
                <a:solidFill>
                  <a:srgbClr val="C45122"/>
                </a:solidFill>
              </a:rPr>
              <a:t>H2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4A66B-93D8-4F87-97A8-81A31A18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9445C"/>
                </a:solidFill>
              </a:defRPr>
            </a:pPr>
            <a:r>
              <a:rPr sz="1425" b="1">
                <a:solidFill>
                  <a:srgbClr val="29445C"/>
                </a:solidFill>
              </a:rPr>
              <a:t>目标 (+8, +8) m</a:t>
            </a:r>
          </a:p>
        </p:txBody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aa3802b324c12">
            <a:extLst>
              <a:ext uri="{96DAC541-7B7A-43D3-8B79-37D633B846F1}">
                <asvg:svgBlip xmlns:asvg="http://schemas.microsoft.com/office/drawing/2016/SVG/main" r:embed="Rcff56782db7d4f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4914900"/>
            <a:ext cx="1762125" cy="247650"/>
          </a:xfrm>
          <a:prstGeom xmlns:a="http://schemas.openxmlformats.org/drawingml/2006/main" prst="rect">
            <a:avLst/>
          </a:prstGeom>
        </p:spPr>
      </p:pic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18d4374874bfb">
            <a:extLst>
              <a:ext uri="{96DAC541-7B7A-43D3-8B79-37D633B846F1}">
                <asvg:svgBlip xmlns:asvg="http://schemas.microsoft.com/office/drawing/2016/SVG/main" r:embed="R848ce09aeb0744e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5162550"/>
            <a:ext cx="1762125" cy="247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CFAD8-6CA8-410F-AB6F-6977A8B9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435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63E32"/>
                </a:solidFill>
              </a:defRPr>
            </a:pPr>
            <a:r>
              <a:rPr sz="1350" b="1">
                <a:solidFill>
                  <a:srgbClr val="B63E32"/>
                </a:solidFill>
              </a:rPr>
              <a:t>H1与H2的内部结构相同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BF54D3-6A53-4EB3-85A8-F96347FF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219200"/>
            <a:ext cx="4572000" cy="4686300"/>
          </a:xfrm>
          <a:prstGeom xmlns:a="http://schemas.openxmlformats.org/drawingml/2006/main" prst="roundRect">
            <a:avLst>
              <a:gd name="adj" fmla="val 2917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3E52E-E7C3-4D3B-9C34-681ABC55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81125"/>
            <a:ext cx="411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2  Hk内部：4×4延迟子单元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750B9-AA7A-4EE2-8383-A6886BB9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4114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E91"/>
                </a:solidFill>
              </a:defRPr>
            </a:pPr>
            <a:r>
              <a:rPr sz="1425" b="0">
                <a:solidFill>
                  <a:srgbClr val="667E91"/>
                </a:solidFill>
              </a:rPr>
              <a:t>行：距离延迟    列：方位延迟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C059BA-13AD-4D82-8D00-0DE4EC1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057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A1</a:t>
            </a:r>
          </a:p>
        </p:txBody>
      </p:sp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bbb389504efc">
            <a:extLst>
              <a:ext uri="{96DAC541-7B7A-43D3-8B79-37D633B846F1}">
                <asvg:svgBlip xmlns:asvg="http://schemas.microsoft.com/office/drawing/2016/SVG/main" r:embed="Rf119bf18c7af49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05275" y="2238375"/>
            <a:ext cx="742950" cy="2095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30C829-0C91-469E-8582-67ADF8A3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57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A2</a:t>
            </a:r>
          </a:p>
        </p:txBody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4feb45a7d45f5">
            <a:extLst>
              <a:ext uri="{96DAC541-7B7A-43D3-8B79-37D633B846F1}">
                <asvg:svgBlip xmlns:asvg="http://schemas.microsoft.com/office/drawing/2016/SVG/main" r:embed="R84b797bc0eac49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48225" y="2238375"/>
            <a:ext cx="742950" cy="2095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43458-3FEA-47AE-BB08-87273A2A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57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A3</a:t>
            </a:r>
          </a:p>
        </p:txBody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46659645e4f08">
            <a:extLst>
              <a:ext uri="{96DAC541-7B7A-43D3-8B79-37D633B846F1}">
                <asvg:svgBlip xmlns:asvg="http://schemas.microsoft.com/office/drawing/2016/SVG/main" r:embed="R05fb6ca7225c49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91175" y="2238375"/>
            <a:ext cx="7429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C413B0-C112-42DC-80F2-0A7967CB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57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A4</a:t>
            </a:r>
          </a:p>
        </p:txBody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2dcda18d64003">
            <a:extLst>
              <a:ext uri="{96DAC541-7B7A-43D3-8B79-37D633B846F1}">
                <asvg:svgBlip xmlns:asvg="http://schemas.microsoft.com/office/drawing/2016/SVG/main" r:embed="R0473d7ff14cc4e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2238375"/>
            <a:ext cx="742950" cy="20955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5DF6F7-0E23-4F23-BDFD-70C89A6D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R1</a:t>
            </a:r>
          </a:p>
        </p:txBody>
      </p:sp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52cb68726840d1">
            <a:extLst>
              <a:ext uri="{96DAC541-7B7A-43D3-8B79-37D633B846F1}">
                <asvg:svgBlip xmlns:asvg="http://schemas.microsoft.com/office/drawing/2016/SVG/main" r:embed="R54b242de7fea434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2752725"/>
            <a:ext cx="590550" cy="2095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044868-6D6E-4231-8AC4-5127963E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1A4B3A-6D25-432E-87A4-D437C1A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288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P11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47372B-22C5-4211-BEE1-6E561B25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479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(0,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2CE847-0CF5-4215-9CA8-76EF2AAB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479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0)T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DE750B-6F4E-4CC2-916C-D35E0E0D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F5F3F6-3BFE-4A19-989A-5F4797A8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288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122"/>
                </a:solidFill>
              </a:defRPr>
            </a:pPr>
            <a:r>
              <a:rPr sz="1200" b="1">
                <a:solidFill>
                  <a:srgbClr val="C45122"/>
                </a:solidFill>
              </a:rPr>
              <a:t>P12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A2C8EF-EE22-47C2-970D-1E1E76594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479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(0,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D5204C-880D-459C-B6E2-6E2F5FCF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8479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1/10)T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BD320C-2064-4881-8A45-CF2CFEB6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487279-5DB2-441C-9F44-14FCCA8B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288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645"/>
                </a:solidFill>
              </a:defRPr>
            </a:pPr>
            <a:r>
              <a:rPr sz="1200" b="1">
                <a:solidFill>
                  <a:srgbClr val="247645"/>
                </a:solidFill>
              </a:rPr>
              <a:t>P13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F05954-D228-4CD1-BFDB-75E9AFD0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6479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(0,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CD7B1A-7805-43E8-BD9C-A14DB306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8479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5/6)T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437CFE-B3F8-4E14-8ED6-5494D0BD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94D1A5-4DEB-445C-A708-7A63490D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4BA1"/>
                </a:solidFill>
              </a:defRPr>
            </a:pPr>
            <a:r>
              <a:rPr sz="1200" b="1">
                <a:solidFill>
                  <a:srgbClr val="6B4BA1"/>
                </a:solidFill>
              </a:rPr>
              <a:t>P14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AE9E9C-51DC-48C1-8DC0-9E019223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(0,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A9113CB-8C49-4BEB-9A07-B686D7E8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479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14/15)T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8B9260-2506-4197-8518-FADC4402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R2</a:t>
            </a:r>
          </a:p>
        </p:txBody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b29548fc645a8">
            <a:extLst>
              <a:ext uri="{96DAC541-7B7A-43D3-8B79-37D633B846F1}">
                <asvg:svgBlip xmlns:asvg="http://schemas.microsoft.com/office/drawing/2016/SVG/main" r:embed="R1af34ecd44fe458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3495675"/>
            <a:ext cx="590550" cy="2095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8D20B1-D682-43CB-80B8-0CAB8632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DAB389-4D6B-4D68-8234-F6F1DB2A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1718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122"/>
                </a:solidFill>
              </a:defRPr>
            </a:pPr>
            <a:r>
              <a:rPr sz="1200" b="1">
                <a:solidFill>
                  <a:srgbClr val="C45122"/>
                </a:solidFill>
              </a:rPr>
              <a:t>P21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34721F-5F77-4167-96B1-AEB85757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3909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(1/10,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4D0271-DDE6-4BD6-8903-3E8D7C07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909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0)T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0A36D8-BE0D-4769-BB01-5FD71C8F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752322-0309-4800-8AB6-1FC759B2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1718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645"/>
                </a:solidFill>
              </a:defRPr>
            </a:pPr>
            <a:r>
              <a:rPr sz="1200" b="1">
                <a:solidFill>
                  <a:srgbClr val="247645"/>
                </a:solidFill>
              </a:rPr>
              <a:t>P22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149A2F-A763-4E87-90EB-4F051626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909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(1/10,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1004BC-C627-42FF-A635-00BB724D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909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1/10)T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739656-AB03-4E0C-9153-2468986E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D07B1A-440A-49CD-8DC5-651DECBE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1718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4BA1"/>
                </a:solidFill>
              </a:defRPr>
            </a:pPr>
            <a:r>
              <a:rPr sz="1200" b="1">
                <a:solidFill>
                  <a:srgbClr val="6B4BA1"/>
                </a:solidFill>
              </a:rPr>
              <a:t>P23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070354-08C4-47D2-A8E7-8A583011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3909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(1/10,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0A1C72-A495-40FB-BB4B-AFBCD193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5909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5/6)T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985AF9-A583-4612-8A7D-5C9A826B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C8AA00F-C488-4A02-99C7-3249F1F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P24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98BAFB-84C8-4AFA-BC5C-8454D6DD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909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(1/10,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6BAB75-9470-47D8-9AD0-6298AEEB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909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14/15)T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83B378D-14CE-4690-B160-F48C9CF1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R3</a:t>
            </a:r>
          </a:p>
        </p:txBody>
      </p:sp>
      <p:pic>
        <p:nvPicPr>
          <p:cNvPr id="1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33cf26d584b91">
            <a:extLst>
              <a:ext uri="{96DAC541-7B7A-43D3-8B79-37D633B846F1}">
                <asvg:svgBlip xmlns:asvg="http://schemas.microsoft.com/office/drawing/2016/SVG/main" r:embed="Rdb1b357c23d0494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4238625"/>
            <a:ext cx="590550" cy="2095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7116226-8665-4B5E-AE31-117175B5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81FD235-CB71-4F02-A07E-A0A4277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9147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645"/>
                </a:solidFill>
              </a:defRPr>
            </a:pPr>
            <a:r>
              <a:rPr sz="1200" b="1">
                <a:solidFill>
                  <a:srgbClr val="247645"/>
                </a:solidFill>
              </a:rPr>
              <a:t>P31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E0AE668-2185-4CB8-990F-B7E276D3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1338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(5/6,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C24B6A-1EDC-4CFE-8900-1A6C9CAC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3338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0)T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5E01AC-AC36-49DA-BC8A-DCD51E7E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AC3CED-0F8D-40BF-9324-EFB70444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9147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4BA1"/>
                </a:solidFill>
              </a:defRPr>
            </a:pPr>
            <a:r>
              <a:rPr sz="1200" b="1">
                <a:solidFill>
                  <a:srgbClr val="6B4BA1"/>
                </a:solidFill>
              </a:rPr>
              <a:t>P32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CA723A-93D0-4897-8554-6BFEC4A4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1338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(5/6,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8CD69B1-11B4-4641-B1A8-22203ADE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3338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1/10)T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72EB2B0-A8F6-48E7-AD05-2E10C3B3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381816C-E086-4A70-9126-1748B915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9147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P33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E88082-098F-4AEF-B321-AD593F6B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1338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(5/6,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926BAD9-3D52-49A1-A63E-A0DB19C9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338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5/6)T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93AE513-56EC-4FE2-A375-100493E7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6715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071A7B7-B711-4002-A571-C751A002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1477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122"/>
                </a:solidFill>
              </a:defRPr>
            </a:pPr>
            <a:r>
              <a:rPr sz="1200" b="1">
                <a:solidFill>
                  <a:srgbClr val="C45122"/>
                </a:solidFill>
              </a:rPr>
              <a:t>P34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FC535F-CB05-4A2B-9B91-9587CC33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3385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(5/6,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0EFDC6E-AA1D-4E4F-94F0-CB52952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3387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14/15)T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AD390EF-6850-4597-ABDA-65EE7F47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R4</a:t>
            </a:r>
          </a:p>
        </p:txBody>
      </p:sp>
      <p:pic>
        <p:nvPicPr>
          <p:cNvPr id="2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40488e5964a65">
            <a:extLst>
              <a:ext uri="{96DAC541-7B7A-43D3-8B79-37D633B846F1}">
                <asvg:svgBlip xmlns:asvg="http://schemas.microsoft.com/office/drawing/2016/SVG/main" r:embed="Rebc5b2c2cf2f4e0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86150" y="4981575"/>
            <a:ext cx="590550" cy="209550"/>
          </a:xfrm>
          <a:prstGeom xmlns:a="http://schemas.openxmlformats.org/drawingml/2006/main" prst="rect">
            <a:avLst/>
          </a:prstGeom>
        </p:spPr>
      </p:pic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FDD6AE8-95BE-4C50-A651-F7F64693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3C44197-2217-4342-A1DD-4616913F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6577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4BA1"/>
                </a:solidFill>
              </a:defRPr>
            </a:pPr>
            <a:r>
              <a:rPr sz="1200" b="1">
                <a:solidFill>
                  <a:srgbClr val="6B4BA1"/>
                </a:solidFill>
              </a:rPr>
              <a:t>P41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395EC25-3722-4651-9F9F-59EA67A6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8768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(14/15,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E65B7C6-057B-4A24-BFA4-CD811B91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0768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0)T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A071737-3BBA-4D73-AD95-1C649F07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4E9BFF-BCF7-49F8-8A1D-806DF040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577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P42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16BB6FE-FF1A-4A0F-9E5E-23BC43FA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8768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(14/15,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34A6525-FCD1-4854-92EB-F71B8EBA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768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1/10)T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FB96338-7C90-4975-A3B4-719B9978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E4BF273-0444-478A-8C20-4EAD554A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6577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45122"/>
                </a:solidFill>
              </a:defRPr>
            </a:pPr>
            <a:r>
              <a:rPr sz="1200" b="1">
                <a:solidFill>
                  <a:srgbClr val="C45122"/>
                </a:solidFill>
              </a:rPr>
              <a:t>P43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2CBDD93-24C6-4CAB-81E5-7CBB0206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8768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(14/15,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3EC9292-3081-4FF7-B73C-EE047DC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0768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5/6)T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AEEA5AE-43B8-4C83-8DB1-C9364ACC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742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7890A2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2E50FF2-CA35-44FD-8B79-247B4DAB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577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645"/>
                </a:solidFill>
              </a:defRPr>
            </a:pPr>
            <a:r>
              <a:rPr sz="1200" b="1">
                <a:solidFill>
                  <a:srgbClr val="247645"/>
                </a:solidFill>
              </a:rPr>
              <a:t>P44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C223D7A-E573-4687-8A59-68E4CBB0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76800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(14/15,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411B77C-224A-428D-B9C0-F09CD240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76825"/>
            <a:ext cx="742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45C"/>
                </a:solidFill>
              </a:defRPr>
            </a:pPr>
            <a:r>
              <a:rPr sz="1125" b="0">
                <a:solidFill>
                  <a:srgbClr val="29445C"/>
                </a:solidFill>
              </a:rPr>
              <a:t>14/15)T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F491081-AE01-4088-9438-ACCDE310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578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7645"/>
                </a:solidFill>
              </a:defRPr>
            </a:pPr>
            <a:r>
              <a:rPr sz="1425" b="1">
                <a:solidFill>
                  <a:srgbClr val="247645"/>
                </a:solidFill>
              </a:rPr>
              <a:t>同一内部矩阵重复用于H1、H2、...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220ED50-E4EB-4BD6-81FC-3DE4B9F9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19200"/>
            <a:ext cx="3695700" cy="4686300"/>
          </a:xfrm>
          <a:prstGeom xmlns:a="http://schemas.openxmlformats.org/drawingml/2006/main" prst="roundRect">
            <a:avLst>
              <a:gd name="adj" fmla="val 3608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29606F7-F8A5-449A-8C73-F3C89862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81125"/>
            <a:ext cx="3219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3  形成2-bit时变反射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C8E5505-B3F0-4A38-88E5-D7D708E4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2402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E91"/>
                </a:solidFill>
              </a:defRPr>
            </a:pPr>
            <a:r>
              <a:rPr sz="1425" b="0">
                <a:solidFill>
                  <a:srgbClr val="667E91"/>
                </a:solidFill>
              </a:rPr>
              <a:t>每个子单元只有四种反射相位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4FE3C3E-1833-40F9-BF2B-2E50C1E5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81225"/>
            <a:ext cx="666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1769A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27AA04A-98D9-4550-BD0F-697128B9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57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0°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0CE6836-3E2A-4F1F-9E26-E4A2572B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81225"/>
            <a:ext cx="666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3"/>
          </a:solidFill>
          <a:ln xmlns:a="http://schemas.openxmlformats.org/drawingml/2006/main" w="12383">
            <a:solidFill>
              <a:srgbClr val="247645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5F8002E-EE59-4F0A-97FE-A0CD03A7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57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7645"/>
                </a:solidFill>
              </a:defRPr>
            </a:pPr>
            <a:r>
              <a:rPr sz="1500" b="1">
                <a:solidFill>
                  <a:srgbClr val="247645"/>
                </a:solidFill>
              </a:rPr>
              <a:t>90°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68C21E5-D530-4762-91FB-7BDDC5F3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81225"/>
            <a:ext cx="666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C4512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D184B45-AFDA-48A0-943D-6FFD47E2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57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5122"/>
                </a:solidFill>
              </a:defRPr>
            </a:pPr>
            <a:r>
              <a:rPr sz="1500" b="1">
                <a:solidFill>
                  <a:srgbClr val="C45122"/>
                </a:solidFill>
              </a:rPr>
              <a:t>180°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165C03-AF4B-41D4-90C6-DAA91133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181225"/>
            <a:ext cx="6667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6B4BA1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DB221EA-D6E6-4A0F-AAD3-5D3FB511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57425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B4BA1"/>
                </a:solidFill>
              </a:defRPr>
            </a:pPr>
            <a:r>
              <a:rPr sz="1500" b="1">
                <a:solidFill>
                  <a:srgbClr val="6B4BA1"/>
                </a:solidFill>
              </a:rPr>
              <a:t>270°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45F0564-10E4-4B67-89C3-4A9E2EE9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7645"/>
                </a:solidFill>
              </a:defRPr>
            </a:pPr>
            <a:r>
              <a:rPr sz="1575" b="1">
                <a:solidFill>
                  <a:srgbClr val="247645"/>
                </a:solidFill>
              </a:rPr>
              <a:t>延迟改变序列起点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612E84C-D65A-46D1-A48E-5F76DFE2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63E32"/>
                </a:solidFill>
              </a:defRPr>
            </a:pPr>
            <a:r>
              <a:rPr sz="1500" b="1">
                <a:solidFill>
                  <a:srgbClr val="B63E32"/>
                </a:solidFill>
              </a:rPr>
              <a:t>Hk改变两个调制频率</a:t>
            </a:r>
          </a:p>
        </p:txBody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173da33584316">
            <a:extLst>
              <a:ext uri="{96DAC541-7B7A-43D3-8B79-37D633B846F1}">
                <asvg:svgBlip xmlns:asvg="http://schemas.microsoft.com/office/drawing/2016/SVG/main" r:embed="R866ee5fae2454b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3590925"/>
            <a:ext cx="2714625" cy="304800"/>
          </a:xfrm>
          <a:prstGeom xmlns:a="http://schemas.openxmlformats.org/drawingml/2006/main" prst="rect">
            <a:avLst/>
          </a:prstGeom>
        </p:spPr>
      </p:pic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0012FFC-3B70-4C3B-B085-66FE3134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从而决定回波搬移到哪里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082CA82-AE80-4779-AAED-784CE387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71975"/>
            <a:ext cx="28384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2383">
            <a:solidFill>
              <a:srgbClr val="65A9D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8ED5CF0-7F2A-42FE-A065-23DDA661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原始飞机回波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A698672-9773-4C4F-AB60-97C87810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733925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445C"/>
                </a:solidFill>
              </a:defRPr>
            </a:pPr>
            <a:r>
              <a:rPr sz="1425" b="0">
                <a:solidFill>
                  <a:srgbClr val="29445C"/>
                </a:solidFill>
              </a:rPr>
              <a:t>×  Hk的2-bit反射系数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D625BB-FDA1-41E4-A072-32733258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815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产生SAR假目标</a:t>
            </a:r>
          </a:p>
        </p:txBody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9a49316424cb6">
            <a:extLst>
              <a:ext uri="{96DAC541-7B7A-43D3-8B79-37D633B846F1}">
                <asvg:svgBlip xmlns:asvg="http://schemas.microsoft.com/office/drawing/2016/SVG/main" r:embed="R23102a9c0bba46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39375" y="5000625"/>
            <a:ext cx="952500" cy="266700"/>
          </a:xfrm>
          <a:prstGeom xmlns:a="http://schemas.openxmlformats.org/drawingml/2006/main" prst="rect">
            <a:avLst/>
          </a:prstGeom>
        </p:spPr>
      </p:pic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5CB7A24-BC50-4B78-B382-C0080B64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1139190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383">
            <a:solidFill>
              <a:srgbClr val="9FC1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54F0B8B-A54D-4A8D-8AB4-BF05ED0F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空间编码：哪个宏格分配哪个Hk    |    时间编码：Hk采用什么调制频率、方向和2-bit相位序列</a:t>
            </a:r>
          </a:p>
        </p:txBody>
      </p:sp>
    </p:spTree>
    <p:extLst>
      <p:ext uri="{BB962C8B-B14F-4D97-AF65-F5344CB8AC3E}">
        <p14:creationId xmlns:p14="http://schemas.microsoft.com/office/powerpoint/2010/main" val="8067166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c00f730d6402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72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090ed1507419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944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7f1e17bb54ae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45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33069abd44a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95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1b3f4494d46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969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482b0162a484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778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0a80f42ab149d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19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0FDDE5-A8AF-42B0-BC9F-1B8F6A7E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7AFF6-BF65-4B98-B902-9967B563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一次完整计算：(+8 m, +8 m)如何变成2-bit状态11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6D724-02B0-4724-81FE-9B64C2EB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F1C63D-DD00-40A4-BD7A-069EFF10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示例采用H1与内部子单元P23；代码先分别量化距离、方位相位，再把两个反射系数相乘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55F3D-1953-4B00-8766-B59C46FB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50545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04CD6-EB75-4367-9460-A9C9B1F9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1  目标偏移 → 调制频率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1f7562c2d493f">
            <a:extLst>
              <a:ext uri="{96DAC541-7B7A-43D3-8B79-37D633B846F1}">
                <asvg:svgBlip xmlns:asvg="http://schemas.microsoft.com/office/drawing/2016/SVG/main" r:embed="Rcd17f4ec36a647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1724025"/>
            <a:ext cx="5048250" cy="34290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50c6e9b89424c">
            <a:extLst>
              <a:ext uri="{96DAC541-7B7A-43D3-8B79-37D633B846F1}">
                <asvg:svgBlip xmlns:asvg="http://schemas.microsoft.com/office/drawing/2016/SVG/main" r:embed="R19675f7b7b4945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2105025"/>
            <a:ext cx="5048250" cy="34290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6b57388254cab">
            <a:extLst>
              <a:ext uri="{96DAC541-7B7A-43D3-8B79-37D633B846F1}">
                <asvg:svgBlip xmlns:asvg="http://schemas.microsoft.com/office/drawing/2016/SVG/main" r:embed="R04f403d21e9c4c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2486025"/>
            <a:ext cx="5048250" cy="3429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D4E74-C29A-48E8-AC2E-4D6D11A7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19200"/>
            <a:ext cx="5505450" cy="1695450"/>
          </a:xfrm>
          <a:prstGeom xmlns:a="http://schemas.openxmlformats.org/drawingml/2006/main" prst="roundRect">
            <a:avLst>
              <a:gd name="adj" fmla="val 786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E084C-3885-42E5-A8DE-CAE62398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3350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2  选择P23的距离/方位时延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d6b5cb6bf4867">
            <a:extLst>
              <a:ext uri="{96DAC541-7B7A-43D3-8B79-37D633B846F1}">
                <asvg:svgBlip xmlns:asvg="http://schemas.microsoft.com/office/drawing/2016/SVG/main" r:embed="R7e0539df46d34b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1724025"/>
            <a:ext cx="4953000" cy="32385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315671fbc4dd2">
            <a:extLst>
              <a:ext uri="{96DAC541-7B7A-43D3-8B79-37D633B846F1}">
                <asvg:svgBlip xmlns:asvg="http://schemas.microsoft.com/office/drawing/2016/SVG/main" r:embed="R46222a0f1dfc43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2085975"/>
            <a:ext cx="4953000" cy="323850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bcf0234c54d5d">
            <a:extLst>
              <a:ext uri="{96DAC541-7B7A-43D3-8B79-37D633B846F1}">
                <asvg:svgBlip xmlns:asvg="http://schemas.microsoft.com/office/drawing/2016/SVG/main" r:embed="Re80f92b46bdb41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2447925"/>
            <a:ext cx="4953000" cy="323850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488b9656e49b0">
            <a:extLst>
              <a:ext uri="{96DAC541-7B7A-43D3-8B79-37D633B846F1}">
                <asvg:svgBlip xmlns:asvg="http://schemas.microsoft.com/office/drawing/2016/SVG/main" r:embed="R39f43b14867d43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15100" y="2676525"/>
            <a:ext cx="4953000" cy="2476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2C239-9EB4-43A5-864B-FB8D1FC6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33725"/>
            <a:ext cx="11391900" cy="17526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BFCFD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90C7B-4662-4934-831F-A81F53AC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3  选取一个快/慢时间采样点，分别计算连续相位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d13b589c6426a">
            <a:extLst>
              <a:ext uri="{96DAC541-7B7A-43D3-8B79-37D633B846F1}">
                <asvg:svgBlip xmlns:asvg="http://schemas.microsoft.com/office/drawing/2016/SVG/main" r:embed="R554defb0b7b649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3638550"/>
            <a:ext cx="10820400" cy="361950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0416c2ddd41ea">
            <a:extLst>
              <a:ext uri="{96DAC541-7B7A-43D3-8B79-37D633B846F1}">
                <asvg:svgBlip xmlns:asvg="http://schemas.microsoft.com/office/drawing/2016/SVG/main" r:embed="R90c886acfdf14e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038600"/>
            <a:ext cx="4762500" cy="32385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d3a01e2864fed">
            <a:extLst>
              <a:ext uri="{96DAC541-7B7A-43D3-8B79-37D633B846F1}">
                <asvg:svgBlip xmlns:asvg="http://schemas.microsoft.com/office/drawing/2016/SVG/main" r:embed="R03a1df4f11dd4d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4343400"/>
            <a:ext cx="4762500" cy="2667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e2a1311cf417b">
            <a:extLst>
              <a:ext uri="{96DAC541-7B7A-43D3-8B79-37D633B846F1}">
                <asvg:svgBlip xmlns:asvg="http://schemas.microsoft.com/office/drawing/2016/SVG/main" r:embed="R5fb46382848145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4038600"/>
            <a:ext cx="4762500" cy="323850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7f8169f994d77">
            <a:extLst>
              <a:ext uri="{96DAC541-7B7A-43D3-8B79-37D633B846F1}">
                <asvg:svgBlip xmlns:asvg="http://schemas.microsoft.com/office/drawing/2016/SVG/main" r:embed="R695068d6601b448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9850" y="4343400"/>
            <a:ext cx="47625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65E40-BD76-4908-85C4-AF09B496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000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E91"/>
                </a:solidFill>
              </a:defRPr>
            </a:pPr>
            <a:r>
              <a:rPr sz="1275" b="0">
                <a:solidFill>
                  <a:srgbClr val="667E91"/>
                </a:solidFill>
              </a:rPr>
              <a:t>蓝/橙：目标偏移形成的调制项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0EC41-A15D-4EEF-B2B0-46E65C9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2915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E91"/>
                </a:solidFill>
              </a:defRPr>
            </a:pPr>
            <a:r>
              <a:rPr sz="1275" b="0">
                <a:solidFill>
                  <a:srgbClr val="667E91"/>
                </a:solidFill>
              </a:rPr>
              <a:t>绿/紫：P23引入的距离与方位延迟项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5E466-4B27-44C3-8DCF-02992F6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139190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383">
            <a:solidFill>
              <a:srgbClr val="8FBA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0DC62E-4C82-459B-A96F-68F73A67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1101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4  量化为四种相位状态并相乘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f65b1c01546b6">
            <a:extLst>
              <a:ext uri="{96DAC541-7B7A-43D3-8B79-37D633B846F1}">
                <asvg:svgBlip xmlns:asvg="http://schemas.microsoft.com/office/drawing/2016/SVG/main" r:embed="Rc9603450e0ae4a0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562600"/>
            <a:ext cx="10744200" cy="361950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16b26b4024c81">
            <a:extLst>
              <a:ext uri="{96DAC541-7B7A-43D3-8B79-37D633B846F1}">
                <asvg:svgBlip xmlns:asvg="http://schemas.microsoft.com/office/drawing/2016/SVG/main" r:embed="R094fd8fcac9f48a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6000750"/>
            <a:ext cx="10744200" cy="41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008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026B9D-1C27-4E4B-A5BD-1AFA3AF0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199F4-1F3A-4891-90FA-730F01C7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两架真实飞机：自由度来自每架飞机的通道核Ki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49754-706B-426D-8BD5-64AC3E41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C63EA-9403-47A2-8179-23B164A1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同一真实编队可以选择共享码本、相干重叠或独立码本；所有目标都由原始回波乘时变反射系数得到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C58A3-8A82-4619-8EC0-AA880571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391900" cy="847725"/>
          </a:xfrm>
          <a:prstGeom xmlns:a="http://schemas.openxmlformats.org/drawingml/2006/main" prst="roundRect">
            <a:avLst>
              <a:gd name="adj" fmla="val 13483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12383">
            <a:solidFill>
              <a:srgbClr val="8FBAD5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95c88c7724f5b">
            <a:extLst>
              <a:ext uri="{96DAC541-7B7A-43D3-8B79-37D633B846F1}">
                <asvg:svgBlip xmlns:asvg="http://schemas.microsoft.com/office/drawing/2016/SVG/main" r:embed="R98827487923845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14375" y="1362075"/>
            <a:ext cx="4476750" cy="42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33514-BA26-4D54-A0BD-067F4C7A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525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562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9445C"/>
                </a:solidFill>
              </a:defRPr>
            </a:pPr>
            <a:r>
              <a:rPr sz="1575" b="1">
                <a:solidFill>
                  <a:srgbClr val="29445C"/>
                </a:solidFill>
              </a:rPr>
              <a:t>S：真实飞机位置    K：该飞机的假目标偏移集合    T：最终SAR目标集合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15F59-165A-4F4D-B18F-F7147676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3657600" cy="3943350"/>
          </a:xfrm>
          <a:prstGeom xmlns:a="http://schemas.openxmlformats.org/drawingml/2006/main" prst="roundRect">
            <a:avLst>
              <a:gd name="adj" fmla="val 3646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1769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299B3-3EC0-4513-9871-81203277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69AA"/>
                </a:solidFill>
              </a:defRPr>
            </a:pPr>
            <a:r>
              <a:rPr sz="2025" b="1">
                <a:solidFill>
                  <a:srgbClr val="1769AA"/>
                </a:solidFill>
              </a:rPr>
              <a:t>共享码本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73143-FAC1-4600-8B8D-FED4B996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K1 = K2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4E84E6-32DD-4665-84C3-693C74C9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8B773-8E90-4CFF-ADE6-AF72AC87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9433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4A8C7-4ACA-4570-A987-495C3F59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004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428F6-0F00-4424-A371-98388DE4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473387-1DAF-4A60-A2F1-5550B321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45A98-91D5-4A3E-B87B-742CD599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9433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C519D9-08C6-4603-8639-7EE551ED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004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3DCCD-39D6-4F3F-B68A-6081EB29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D2C9D-7F6C-4FAC-9FEF-4845E151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48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869B2-D805-42B5-A7FA-E941F40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48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12854-902C-40E0-AC9C-CAFE1221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48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A8E1A4-A224-4BD5-A557-DF050DF0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48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0CE9F-E5EC-4746-918D-0F7060C0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308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同一个核平移到两架飞机处</a:t>
            </a:r>
          </a:p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规则重复、结构最清楚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1605A1-B51C-4913-8B4B-384A712F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76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真实飞机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10BD7-5A49-41B8-B842-9DE46C16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3657600" cy="3943350"/>
          </a:xfrm>
          <a:prstGeom xmlns:a="http://schemas.openxmlformats.org/drawingml/2006/main" prst="roundRect">
            <a:avLst>
              <a:gd name="adj" fmla="val 3646"/>
            </a:avLst>
          </a:prstGeom>
          <a:solidFill xmlns:a="http://schemas.openxmlformats.org/drawingml/2006/main">
            <a:srgbClr val="FFE3D5"/>
          </a:solidFill>
          <a:ln xmlns:a="http://schemas.openxmlformats.org/drawingml/2006/main" w="12383">
            <a:solidFill>
              <a:srgbClr val="C4512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EBADE7-64E1-466C-A4DB-554507B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45122"/>
                </a:solidFill>
              </a:defRPr>
            </a:pPr>
            <a:r>
              <a:rPr sz="2025" b="1">
                <a:solidFill>
                  <a:srgbClr val="C45122"/>
                </a:solidFill>
              </a:rPr>
              <a:t>相干重叠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EDDC87-FACC-471E-BC3D-25995F30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622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S1+K1 与 S2+K2 重合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26788F-CDFB-4B9C-BE21-ABA2B363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AA1AFA-78AC-483B-94E6-2483588D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9433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53BA4-B196-4A09-AB72-CF0914E7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004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49F2AF-7823-487C-AA91-755A8A6D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2A6C34-27D5-4387-A86A-3EFFDDD0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885559-C479-40B9-B921-AAEF0D0D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433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BA4EB3-89E5-4CAF-BD9E-9681D5D3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004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3D1CB4-C793-4ACB-AA77-1BB69274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8AF422-34D0-4C61-AF6E-49451973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48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122"/>
          </a:solidFill>
          <a:ln xmlns:a="http://schemas.openxmlformats.org/drawingml/2006/main" w="11430">
            <a:solidFill>
              <a:srgbClr val="C4512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E2B2AC-E64B-462D-8160-78C6170B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48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122"/>
          </a:solidFill>
          <a:ln xmlns:a="http://schemas.openxmlformats.org/drawingml/2006/main" w="11430">
            <a:solidFill>
              <a:srgbClr val="C4512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4C6FE5-5F2E-4CA1-B58F-E8EDBCA8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00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3E32"/>
          </a:solidFill>
          <a:ln xmlns:a="http://schemas.openxmlformats.org/drawingml/2006/main" w="11430">
            <a:solidFill>
              <a:srgbClr val="B63E3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4352D6-1E74-46EF-B5A5-AB8FABD9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122"/>
          </a:solidFill>
          <a:ln xmlns:a="http://schemas.openxmlformats.org/drawingml/2006/main" w="11430">
            <a:solidFill>
              <a:srgbClr val="C4512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807F9E-85FF-4A9A-AE67-B93379A4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48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5122"/>
          </a:solidFill>
          <a:ln xmlns:a="http://schemas.openxmlformats.org/drawingml/2006/main" w="11430">
            <a:solidFill>
              <a:srgbClr val="C4512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A84BE2-6ABE-4BEC-845C-3A9B76AE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63E32"/>
                </a:solidFill>
              </a:defRPr>
            </a:pPr>
            <a:r>
              <a:rPr sz="1200" b="1">
                <a:solidFill>
                  <a:srgbClr val="B63E32"/>
                </a:solidFill>
              </a:rPr>
              <a:t>重叠点幅度增强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0A98D4-5D62-4146-AA9A-DFCCAD62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38700"/>
            <a:ext cx="308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同一像素接收两路复回波</a:t>
            </a:r>
          </a:p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可增强指定假目标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CB0CDD-465A-46B9-A4A9-67B88630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76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真实飞机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84299C-8775-4355-BA5E-95D1FEA4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66950"/>
            <a:ext cx="3657600" cy="3943350"/>
          </a:xfrm>
          <a:prstGeom xmlns:a="http://schemas.openxmlformats.org/drawingml/2006/main" prst="roundRect">
            <a:avLst>
              <a:gd name="adj" fmla="val 3646"/>
            </a:avLst>
          </a:prstGeom>
          <a:solidFill xmlns:a="http://schemas.openxmlformats.org/drawingml/2006/main">
            <a:srgbClr val="EBE2F6"/>
          </a:solidFill>
          <a:ln xmlns:a="http://schemas.openxmlformats.org/drawingml/2006/main" w="12383">
            <a:solidFill>
              <a:srgbClr val="6B4BA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106DB1-6521-4E98-A47A-201FEBC2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9825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B4BA1"/>
                </a:solidFill>
              </a:defRPr>
            </a:pPr>
            <a:r>
              <a:rPr sz="2025" b="1">
                <a:solidFill>
                  <a:srgbClr val="6B4BA1"/>
                </a:solidFill>
              </a:rPr>
              <a:t>独立码本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545C57-7659-48C1-B4DC-F1F80679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K1 ≠ K2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E90EA4-ABFB-4E17-89E2-949EF1CC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09E204-A5B3-4BE9-A23B-8C01064F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9433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1D95EC-F665-4EF2-92EB-C2CBBF40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004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AEE9E6-0939-4A6D-8F10-68786874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A92302-675D-49EC-8BCD-7B9CEEAF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857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DA9142-21D0-4E4A-8347-73835ABC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9433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C3A0DB-09F3-4158-9F37-6D076284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80047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2031F4-E70F-4C5B-8CF1-149FB7D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275FED-9C26-45E5-AAED-0B5A7C37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1"/>
          </a:solidFill>
          <a:ln xmlns:a="http://schemas.openxmlformats.org/drawingml/2006/main" w="11430">
            <a:solidFill>
              <a:srgbClr val="6B4BA1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8D2A0B-FF78-4E72-AF6F-5680265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28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1"/>
          </a:solidFill>
          <a:ln xmlns:a="http://schemas.openxmlformats.org/drawingml/2006/main" w="11430">
            <a:solidFill>
              <a:srgbClr val="6B4BA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971683-9B12-43E8-BAD1-F1BB9475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71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1"/>
          </a:solidFill>
          <a:ln xmlns:a="http://schemas.openxmlformats.org/drawingml/2006/main" w="11430">
            <a:solidFill>
              <a:srgbClr val="6B4BA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E6084AD-BB8E-4B18-8075-46ABBDCB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1"/>
          </a:solidFill>
          <a:ln xmlns:a="http://schemas.openxmlformats.org/drawingml/2006/main" w="11430">
            <a:solidFill>
              <a:srgbClr val="6B4BA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8157DD-049E-4805-9BD6-B8E14AF9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1"/>
          </a:solidFill>
          <a:ln xmlns:a="http://schemas.openxmlformats.org/drawingml/2006/main" w="11430">
            <a:solidFill>
              <a:srgbClr val="6B4BA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B81256-05D8-45FD-B9BF-92056354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BA1"/>
          </a:solidFill>
          <a:ln xmlns:a="http://schemas.openxmlformats.org/drawingml/2006/main" w="11430">
            <a:solidFill>
              <a:srgbClr val="6B4BA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027EAE-AA3C-4069-A767-4F9B887B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38700"/>
            <a:ext cx="308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每架飞机生成不同子编队</a:t>
            </a:r>
          </a:p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可做非对称、折线、V形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795CAB-A6C9-4B37-8E11-C5241875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6769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真实飞机</a:t>
            </a:r>
          </a:p>
        </p:txBody>
      </p:sp>
    </p:spTree>
    <p:extLst>
      <p:ext uri="{BB962C8B-B14F-4D97-AF65-F5344CB8AC3E}">
        <p14:creationId xmlns:p14="http://schemas.microsoft.com/office/powerpoint/2010/main" val="19979255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37439-2DA5-451A-B80D-26F53A48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EAE34-616F-4B96-AA44-277F97B1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两架飞机①：共享二通道核，2架变4个规则目标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BDE79-6D32-4C0D-B77B-E7F8FA79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A44C7-C0CF-4AF6-A19F-3F98FD46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两架真实飞机采用相同Ki；输出是同一双点核在两个实机位置的平移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E0432-6924-4338-9A37-E98E57E4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723900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2383">
            <a:solidFill>
              <a:srgbClr val="1769A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0159a37154820"/>
          <a:stretch xmlns:a="http://schemas.openxmlformats.org/drawingml/2006/main"/>
        </p:blipFill>
        <p:spPr>
          <a:xfrm xmlns:a="http://schemas.openxmlformats.org/drawingml/2006/main">
            <a:off x="1256637" y="1247775"/>
            <a:ext cx="5563925" cy="5124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F2AD9-C38A-4DCA-96C5-6965ADAA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95400"/>
            <a:ext cx="3867150" cy="49053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1769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2370D-43C8-4E0F-BE23-7C17E034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14475"/>
            <a:ext cx="340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69AA"/>
                </a:solidFill>
              </a:defRPr>
            </a:pPr>
            <a:r>
              <a:rPr sz="2025" b="1">
                <a:solidFill>
                  <a:srgbClr val="1769AA"/>
                </a:solidFill>
              </a:rPr>
              <a:t>读图要点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ed1441666497f">
            <a:extLst>
              <a:ext uri="{96DAC541-7B7A-43D3-8B79-37D633B846F1}">
                <asvg:svgBlip xmlns:asvg="http://schemas.microsoft.com/office/drawing/2016/SVG/main" r:embed="R5899c320ad9343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29600" y="2000250"/>
            <a:ext cx="3219450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F7FA4-E8CE-4A47-ADAE-F799D71D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57475"/>
            <a:ext cx="318135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769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970E4-7BEF-43AC-A5B0-16533EF1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289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9445C"/>
                </a:solidFill>
              </a:defRPr>
            </a:pPr>
            <a:r>
              <a:rPr sz="1650" b="1">
                <a:solidFill>
                  <a:srgbClr val="29445C"/>
                </a:solidFill>
              </a:rPr>
              <a:t>蓝框为两架真实飞机位置；上方四个清晰飞机像为共享码本生成的目标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1760D-058C-472E-BDFB-F94C8B7C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1813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2383">
            <a:solidFill>
              <a:srgbClr val="8FBA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41813-80C4-4807-AE90-B39C5779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10125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蓝框：两架真实飞机</a:t>
            </a:r>
          </a:p>
          <a:p xmlns:a="http://schemas.openxmlformats.org/drawingml/2006/main">
            <a:pPr algn="ctr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橙色圆点：编译后的目标中心</a:t>
            </a:r>
          </a:p>
          <a:p xmlns:a="http://schemas.openxmlformats.org/drawingml/2006/main">
            <a:pPr algn="ctr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灰白飞机像：完整RD成像结果</a:t>
            </a:r>
          </a:p>
        </p:txBody>
      </p:sp>
    </p:spTree>
    <p:extLst>
      <p:ext uri="{BB962C8B-B14F-4D97-AF65-F5344CB8AC3E}">
        <p14:creationId xmlns:p14="http://schemas.microsoft.com/office/powerpoint/2010/main" val="12646570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28FD4-33CE-474B-BE84-2CEBBCD0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9F92D-435F-4683-B073-A866F71F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两架飞机②：共享三通道核，重叠位置相干增强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46156-6CD7-4B7D-89F5-B719A09F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E4B07-9E06-4E3F-B441-160C23DE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两个通道落到同一SAR位置时，复回波相干相加；可用于选择性增强中心目标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32B8C-B3FE-4803-ABD8-EE743DE7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723900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2383">
            <a:solidFill>
              <a:srgbClr val="C45122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34cabd2cc4bae"/>
          <a:stretch xmlns:a="http://schemas.openxmlformats.org/drawingml/2006/main"/>
        </p:blipFill>
        <p:spPr>
          <a:xfrm xmlns:a="http://schemas.openxmlformats.org/drawingml/2006/main">
            <a:off x="1256637" y="1247775"/>
            <a:ext cx="5563925" cy="5124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68ADC-49E5-469A-BD89-AB8403F6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95400"/>
            <a:ext cx="3867150" cy="49053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C451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E9937-FDD0-45BB-B4A2-03702A25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14475"/>
            <a:ext cx="340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45122"/>
                </a:solidFill>
              </a:defRPr>
            </a:pPr>
            <a:r>
              <a:rPr sz="2025" b="1">
                <a:solidFill>
                  <a:srgbClr val="C45122"/>
                </a:solidFill>
              </a:rPr>
              <a:t>读图要点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6867f6a614a56">
            <a:extLst>
              <a:ext uri="{96DAC541-7B7A-43D3-8B79-37D633B846F1}">
                <asvg:svgBlip xmlns:asvg="http://schemas.microsoft.com/office/drawing/2016/SVG/main" r:embed="R108e88c7353a4c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29600" y="2000250"/>
            <a:ext cx="3219450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38905A-F0CD-4111-9142-C3E72F5C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57475"/>
            <a:ext cx="318135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C4512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290DB-C32C-4058-B2CE-D65DD2EA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289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9445C"/>
                </a:solidFill>
              </a:defRPr>
            </a:pPr>
            <a:r>
              <a:rPr sz="1650" b="1">
                <a:solidFill>
                  <a:srgbClr val="29445C"/>
                </a:solidFill>
              </a:rPr>
              <a:t>橙色圆点标出编译后的目标中心；中间重叠位置接收两架飞机的相干贡献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60452-5177-4B36-9AED-06492475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1813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2383">
            <a:solidFill>
              <a:srgbClr val="8FBA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C9FC9-3A57-4CD9-8114-EE7FF385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10125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蓝框：两架真实飞机</a:t>
            </a:r>
          </a:p>
          <a:p xmlns:a="http://schemas.openxmlformats.org/drawingml/2006/main">
            <a:pPr algn="ctr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橙色圆点：编译后的目标中心</a:t>
            </a:r>
          </a:p>
          <a:p xmlns:a="http://schemas.openxmlformats.org/drawingml/2006/main">
            <a:pPr algn="ctr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灰白飞机像：完整RD成像结果</a:t>
            </a:r>
          </a:p>
        </p:txBody>
      </p:sp>
    </p:spTree>
    <p:extLst>
      <p:ext uri="{BB962C8B-B14F-4D97-AF65-F5344CB8AC3E}">
        <p14:creationId xmlns:p14="http://schemas.microsoft.com/office/powerpoint/2010/main" val="11106270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F896B-BD14-4082-B3D9-56719155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7739E-958F-487F-9A63-712C4116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两架飞机③：独立码本生成非对称二维编队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43CC0-B88B-49D1-995E-8C7897BE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0AC44-33C0-47C3-BDF6-4525C9FA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K1与K2分别设计，一架向上生成子编队、另一架向下生成子编队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0B2CE-9DB3-40F0-9F7A-0B536C82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52525"/>
            <a:ext cx="7239000" cy="531495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2383">
            <a:solidFill>
              <a:srgbClr val="6B4BA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ecfbbcba046e6"/>
          <a:stretch xmlns:a="http://schemas.openxmlformats.org/drawingml/2006/main"/>
        </p:blipFill>
        <p:spPr>
          <a:xfrm xmlns:a="http://schemas.openxmlformats.org/drawingml/2006/main">
            <a:off x="1256637" y="1247775"/>
            <a:ext cx="5563925" cy="5124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1731A-DCEB-43F6-AA3F-669A827E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95400"/>
            <a:ext cx="3867150" cy="4905375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6B4BA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75133-E94D-412E-9B07-908EE0F3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14475"/>
            <a:ext cx="340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6B4BA1"/>
                </a:solidFill>
              </a:defRPr>
            </a:pPr>
            <a:r>
              <a:rPr sz="2025" b="1">
                <a:solidFill>
                  <a:srgbClr val="6B4BA1"/>
                </a:solidFill>
              </a:rPr>
              <a:t>读图要点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e46d414494aac">
            <a:extLst>
              <a:ext uri="{96DAC541-7B7A-43D3-8B79-37D633B846F1}">
                <asvg:svgBlip xmlns:asvg="http://schemas.microsoft.com/office/drawing/2016/SVG/main" r:embed="Rbf351840f02b43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29600" y="2000250"/>
            <a:ext cx="3219450" cy="400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CC91F-AED1-4D5C-8372-64F6B511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57475"/>
            <a:ext cx="3181350" cy="1752600"/>
          </a:xfrm>
          <a:prstGeom xmlns:a="http://schemas.openxmlformats.org/drawingml/2006/main" prst="roundRect">
            <a:avLst>
              <a:gd name="adj" fmla="val 5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B4BA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B6C47-8E15-4A9B-AC5C-171B617B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8289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9445C"/>
                </a:solidFill>
              </a:defRPr>
            </a:pPr>
            <a:r>
              <a:rPr sz="1650" b="1">
                <a:solidFill>
                  <a:srgbClr val="29445C"/>
                </a:solidFill>
              </a:rPr>
              <a:t>同一对实机可以通过不同Ki生成上下分离的非对称目标；不仅限于线阵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7FB4B0-5AED-46A2-9AC8-E70C6ED9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76775"/>
            <a:ext cx="3181350" cy="1152525"/>
          </a:xfrm>
          <a:prstGeom xmlns:a="http://schemas.openxmlformats.org/drawingml/2006/main" prst="roundRect">
            <a:avLst>
              <a:gd name="adj" fmla="val 8264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2383">
            <a:solidFill>
              <a:srgbClr val="8FBA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A070A-5923-4F5A-8A8D-DCBB688E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10125"/>
            <a:ext cx="2838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蓝框：两架真实飞机</a:t>
            </a:r>
          </a:p>
          <a:p xmlns:a="http://schemas.openxmlformats.org/drawingml/2006/main">
            <a:pPr algn="ctr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橙色圆点：编译后的目标中心</a:t>
            </a:r>
          </a:p>
          <a:p xmlns:a="http://schemas.openxmlformats.org/drawingml/2006/main">
            <a:pPr algn="ctr">
              <a:defRPr sz="1425" b="0">
                <a:solidFill>
                  <a:srgbClr val="17324D"/>
                </a:solidFill>
              </a:defRPr>
            </a:pPr>
            <a:r>
              <a:rPr sz="1425" b="0">
                <a:solidFill>
                  <a:srgbClr val="17324D"/>
                </a:solidFill>
              </a:rPr>
              <a:t>灰白飞机像：完整RD成像结果</a:t>
            </a:r>
          </a:p>
        </p:txBody>
      </p:sp>
    </p:spTree>
    <p:extLst>
      <p:ext uri="{BB962C8B-B14F-4D97-AF65-F5344CB8AC3E}">
        <p14:creationId xmlns:p14="http://schemas.microsoft.com/office/powerpoint/2010/main" val="14540202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F1E80C-CC50-41A6-BE35-2E27C9EA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2CF59-01D0-4444-8DE6-94282422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四架真实飞机：每架使用四通道核，合成4×4共16架目标群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3EA71-1261-435A-A1F7-8F0DAB3A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69783-A29E-4043-860C-DC8AD85F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四架飞机位于大方框四角；每架分别向内生成0阶、距离位移、方位位移和二维位移四个通道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55104-9F5B-42F1-9B4A-BCFA6B77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4629150" cy="4981575"/>
          </a:xfrm>
          <a:prstGeom xmlns:a="http://schemas.openxmlformats.org/drawingml/2006/main" prst="roundRect">
            <a:avLst>
              <a:gd name="adj" fmla="val 2881"/>
            </a:avLst>
          </a:prstGeom>
          <a:solidFill xmlns:a="http://schemas.openxmlformats.org/drawingml/2006/main">
            <a:srgbClr val="F6F9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F8142-C019-4849-A4E4-9625AA5E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716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四架真实飞机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ECD52-C82D-492F-BF6E-E194E40D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90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DBF6E-AEAE-40D1-8E49-FC36BA16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C611A-C28D-4B40-9340-46CD0F2C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3B748-402F-4588-88C6-CB46DE15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14315-8499-4C50-B710-17EF72A2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90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3E69D-078B-44CC-A083-DF3E404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3B74B-908E-4BD6-A71A-CA333E74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33625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50579-9840-4F39-95EF-108A3305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6157B-DB14-4A40-89EB-64364DE2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5E5FF-95E7-4E7E-B22C-ED791EED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3EB3AB-4B41-4ADD-B1EB-8E800874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2EDE8-D0AD-4D7F-8938-AB7E9238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720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96476-81DE-4A9C-B912-20B8F438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914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C78"/>
          </a:solidFill>
          <a:ln xmlns:a="http://schemas.openxmlformats.org/drawingml/2006/main" w="11430">
            <a:solidFill>
              <a:srgbClr val="087C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20F8B-75B2-4A83-9332-68F548E1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00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4C46D3-8AE5-4EFA-A574-9855C093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857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087C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A5C1A-4FF5-4F93-8949-440821B7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720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7C78"/>
                </a:solidFill>
              </a:defRPr>
            </a:pPr>
            <a:r>
              <a:rPr sz="1200" b="1">
                <a:solidFill>
                  <a:srgbClr val="087C78"/>
                </a:solidFill>
              </a:rPr>
              <a:t>S4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A9505-EB40-48D0-A83D-E18783F5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305050"/>
            <a:ext cx="2819400" cy="286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C78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84D048-105A-4F68-8C01-B6E89E67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E91"/>
                </a:solidFill>
              </a:defRPr>
            </a:pPr>
            <a:r>
              <a:rPr sz="1425" b="0">
                <a:solidFill>
                  <a:srgbClr val="667E91"/>
                </a:solidFill>
              </a:rPr>
              <a:t>四角实机间距可按实验场景设置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8302FC-5478-4A72-91C8-8463B132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71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+  每架的四通道Ki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6194D6-F253-441E-8488-FAD654BF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124075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2383">
            <a:solidFill>
              <a:srgbClr val="1769A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9EA14-856A-45D1-AA52-130B7668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524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9183B-323C-4532-AFAF-F5D8FF4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771775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445C"/>
                </a:solidFill>
              </a:defRPr>
            </a:pPr>
            <a:r>
              <a:rPr sz="1125" b="1">
                <a:solidFill>
                  <a:srgbClr val="29445C"/>
                </a:solidFill>
              </a:rPr>
              <a:t>(0,0)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639324-C8D7-4197-A57E-7952DDB1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524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93A95E-0EF0-4D8C-A870-ED387A2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771775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445C"/>
                </a:solidFill>
              </a:defRPr>
            </a:pPr>
            <a:r>
              <a:rPr sz="1125" b="1">
                <a:solidFill>
                  <a:srgbClr val="29445C"/>
                </a:solidFill>
              </a:rPr>
              <a:t>(±8,0)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575EAB-BD6D-457E-B76A-C01DB2EC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29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758461-4EA7-4318-9BEA-DC59D04F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876675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445C"/>
                </a:solidFill>
              </a:defRPr>
            </a:pPr>
            <a:r>
              <a:rPr sz="1125" b="1">
                <a:solidFill>
                  <a:srgbClr val="29445C"/>
                </a:solidFill>
              </a:rPr>
              <a:t>(0,±8)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5A61EF-CD93-4C76-8159-AF81C7F5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290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11430">
            <a:solidFill>
              <a:srgbClr val="1769A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36C15C-0322-404F-AC06-FF61A7F1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876675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9445C"/>
                </a:solidFill>
              </a:defRPr>
            </a:pPr>
            <a:r>
              <a:rPr sz="1125" b="1">
                <a:solidFill>
                  <a:srgbClr val="29445C"/>
                </a:solidFill>
              </a:rPr>
              <a:t>(±8,±8)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09C45C-738A-40D5-BE41-0C95F925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14850"/>
            <a:ext cx="226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5122"/>
                </a:solidFill>
              </a:defRPr>
            </a:pPr>
            <a:r>
              <a:rPr sz="1500" b="1">
                <a:solidFill>
                  <a:srgbClr val="C45122"/>
                </a:solidFill>
              </a:rPr>
              <a:t>每架根据所在象限</a:t>
            </a:r>
          </a:p>
          <a:p xmlns:a="http://schemas.openxmlformats.org/drawingml/2006/main">
            <a:pPr algn="ctr">
              <a:defRPr sz="1500" b="1">
                <a:solidFill>
                  <a:srgbClr val="C45122"/>
                </a:solidFill>
              </a:defRPr>
            </a:pPr>
            <a:r>
              <a:rPr sz="1500" b="1">
                <a:solidFill>
                  <a:srgbClr val="C45122"/>
                </a:solidFill>
              </a:rPr>
              <a:t>选择“向内”的正负号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6263AF-EF34-4A89-A96D-D91DDD55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371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=  最终SAR目标 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C33A89-5B44-4B0C-B704-3A1885D0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3048000" cy="33337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2383">
            <a:solidFill>
              <a:srgbClr val="24764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862A11-09C2-4B40-ABE1-11D57160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3C41C6-BF75-4C57-895D-7F9DE8AA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28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E385E8-BDF5-4084-BB68-D471D4A5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28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1526A0-D314-4CDC-B40A-03E9736B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428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F218E8-5B7D-4398-A21E-BA9FD464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680C7A-9051-4687-AF93-F763B08A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2E6D22-CFE3-4B15-835D-8BF5A627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D12DD1-1A7B-4682-BF63-D5DE9EF3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4F086A-C262-4C4F-9D0F-B9ADBE11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3B8E3F-8F35-4EF4-80D8-3C3D630B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59C25C-95ED-4305-9DA4-C0FDEB7E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752195-E828-48C6-8884-CC05D94D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B7A10A-46FB-41D0-855E-74050DB1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29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3381A8-D49A-4A7D-B647-A4AA7413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29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E5969F-1613-4412-87A8-8E601AFE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29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2985E1-915F-4A42-B272-7BB2E152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429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645"/>
          </a:solidFill>
          <a:ln xmlns:a="http://schemas.openxmlformats.org/drawingml/2006/main" w="11430">
            <a:solidFill>
              <a:srgbClr val="24764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58036F-7C0D-4E61-B63D-5FF9C06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53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7645"/>
                </a:solidFill>
              </a:defRPr>
            </a:pPr>
            <a:r>
              <a:rPr sz="1575" b="1">
                <a:solidFill>
                  <a:srgbClr val="247645"/>
                </a:solidFill>
              </a:rPr>
              <a:t>4×4 = 16个清晰目标中心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AF88E9-BC35-49E4-A4AE-B1487B2C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76875"/>
            <a:ext cx="6191250" cy="638175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2383">
            <a:solidFill>
              <a:srgbClr val="E0B45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D743DD-4A2E-4C96-8950-68CC0037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62600"/>
            <a:ext cx="584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9445C"/>
                </a:solidFill>
              </a:defRPr>
            </a:pPr>
            <a:r>
              <a:rPr sz="1500" b="1">
                <a:solidFill>
                  <a:srgbClr val="29445C"/>
                </a:solidFill>
              </a:rPr>
              <a:t>自由度：四架可以共用同一个核，也可以分别设置Ki；后者能把16个点重新编译成更一般的二维形状。</a:t>
            </a:r>
          </a:p>
        </p:txBody>
      </p:sp>
    </p:spTree>
    <p:extLst>
      <p:ext uri="{BB962C8B-B14F-4D97-AF65-F5344CB8AC3E}">
        <p14:creationId xmlns:p14="http://schemas.microsoft.com/office/powerpoint/2010/main" val="19762449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56cf2df7140f9"/>
          <a:stretch xmlns:a="http://schemas.openxmlformats.org/drawingml/2006/main"/>
        </p:blipFill>
        <p:spPr>
          <a:xfrm xmlns:a="http://schemas.openxmlformats.org/drawingml/2006/main">
            <a:off x="0" y="280063"/>
            <a:ext cx="12192000" cy="6297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721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e9519cbe743b3"/>
          <a:stretch xmlns:a="http://schemas.openxmlformats.org/drawingml/2006/main"/>
        </p:blipFill>
        <p:spPr>
          <a:xfrm xmlns:a="http://schemas.openxmlformats.org/drawingml/2006/main">
            <a:off x="0" y="1136257"/>
            <a:ext cx="12192000" cy="45854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0008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9a1d415ce47af"/>
          <a:stretch xmlns:a="http://schemas.openxmlformats.org/drawingml/2006/main"/>
        </p:blipFill>
        <p:spPr>
          <a:xfrm xmlns:a="http://schemas.openxmlformats.org/drawingml/2006/main">
            <a:off x="0" y="280063"/>
            <a:ext cx="12192000" cy="6297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062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bf56b630aa4973"/>
          <a:stretch xmlns:a="http://schemas.openxmlformats.org/drawingml/2006/main"/>
        </p:blipFill>
        <p:spPr>
          <a:xfrm xmlns:a="http://schemas.openxmlformats.org/drawingml/2006/main">
            <a:off x="0" y="280063"/>
            <a:ext cx="12192000" cy="6297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9124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466e602b045e3"/>
          <a:stretch xmlns:a="http://schemas.openxmlformats.org/drawingml/2006/main"/>
        </p:blipFill>
        <p:spPr>
          <a:xfrm xmlns:a="http://schemas.openxmlformats.org/drawingml/2006/main">
            <a:off x="0" y="280063"/>
            <a:ext cx="12192000" cy="6297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832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D8B79B-7F72-4D02-80E6-15E2DFB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06E73-5CBC-4D41-BF88-6AC2D179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"/>
            <a:ext cx="1135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7324D"/>
                </a:solidFill>
              </a:defRPr>
            </a:pPr>
            <a:r>
              <a:rPr sz="3375" b="1">
                <a:solidFill>
                  <a:srgbClr val="17324D"/>
                </a:solidFill>
              </a:rPr>
              <a:t>从“飞机数量”到“任意形状”的可编程自由度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8AA21-80FB-426F-9776-56763BAF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3425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8CAD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62FA9-25EC-4EEC-A858-6DF8BE30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71525"/>
            <a:ext cx="1135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E91"/>
                </a:solidFill>
              </a:defRPr>
            </a:pPr>
            <a:r>
              <a:rPr sz="1500" b="0">
                <a:solidFill>
                  <a:srgbClr val="667E91"/>
                </a:solidFill>
              </a:rPr>
              <a:t>真实飞机只决定基底位置；外层宏格分配通道，Hk决定位置，宏格数量决定幅度，内部延迟组负责高阶谐波相消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E0A38-E5B4-4DC3-A1C5-4433F26C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198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383">
            <a:solidFill>
              <a:srgbClr val="173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0703F-3C79-4693-85D8-F6835727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真实载体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BD6D9-5249-4937-8844-DDC5DA90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257300"/>
            <a:ext cx="2228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383">
            <a:solidFill>
              <a:srgbClr val="1732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7A8B8-FA04-46DB-8AD7-CD0553B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3335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码本关系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CEA1E-B8E9-4937-8802-907920C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2573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383">
            <a:solidFill>
              <a:srgbClr val="173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B2935-FFCD-4090-9537-D1E1CFD8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33500"/>
            <a:ext cx="2838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可控目标集合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AB4BE4-3F1D-463B-90FB-2B740180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25730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383">
            <a:solidFill>
              <a:srgbClr val="1732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6CB02-6B99-4BF5-9A09-354BAE5A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335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已体现/可扩展形状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3980D-A508-41C3-9291-C0130ABF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52600"/>
            <a:ext cx="1981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C895F-4DC2-4D3E-810E-5977F07D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1790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1架飞机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A22A85-E796-4DC8-B337-5977C66B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52600"/>
            <a:ext cx="22288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8DC92-817C-436B-BEF2-F0BDC333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2038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单一或多个Hk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B2390-E307-4184-9626-C4868270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52600"/>
            <a:ext cx="29527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8DEB6-DA09-44FD-83DF-490B8849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478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1→1 / 2 / 3 / 4 / 5 / 9 / 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D5F3B-8F4A-43AE-BF32-F7F1B4E6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52600"/>
            <a:ext cx="4191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10862-2234-42D5-AFFB-5BE7A50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47850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445C"/>
                </a:solidFill>
              </a:defRPr>
            </a:pPr>
            <a:r>
              <a:rPr sz="1425" b="0">
                <a:solidFill>
                  <a:srgbClr val="29445C"/>
                </a:solidFill>
              </a:rPr>
              <a:t>规则阵列、十字、局部编队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5E710-568A-4315-9289-E0BEE5D1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05075"/>
            <a:ext cx="1981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97F4E-83DC-40E8-8B5C-DA428657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0325"/>
            <a:ext cx="1790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2架飞机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210BF2-7F28-4408-B7D2-2B1FE543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05075"/>
            <a:ext cx="22288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236EF9-C2D2-4A46-9FD1-0FE76E80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00325"/>
            <a:ext cx="2038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共享K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8A45F-B6B5-4F9E-8255-CD5D30C1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05075"/>
            <a:ext cx="29527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8FE8BD-CE94-49A2-85B0-7B69AA0C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00325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复制同一核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ECF01-B2E4-471A-B8BF-07C6D0AF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05075"/>
            <a:ext cx="4191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A209A5-37B7-4D7E-8A96-826298AA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00325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445C"/>
                </a:solidFill>
              </a:defRPr>
            </a:pPr>
            <a:r>
              <a:rPr sz="1425" b="0">
                <a:solidFill>
                  <a:srgbClr val="29445C"/>
                </a:solidFill>
              </a:rPr>
              <a:t>线阵、等间距编队、相干增强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1E5DF0-7EEF-45BB-94E8-5536666A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57550"/>
            <a:ext cx="1981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EB21FA-F7BB-4844-90C8-481F7542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1790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2架飞机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90C0A2-70C7-47B7-BBD0-35AD85E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22288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7A6809-98D4-44B0-A70E-910B9932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52800"/>
            <a:ext cx="2038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独立K1、K2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C8AE7B-8AD6-491C-B5AA-1AB9327C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9527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A5F6A1-F84E-4F9B-8C76-FDCE8FA9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两个不同子图的并集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ADF34E-0BBB-4261-9DFE-D751285C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57550"/>
            <a:ext cx="4191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B36F9D-7399-4624-83E4-CECCC719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445C"/>
                </a:solidFill>
              </a:defRPr>
            </a:pPr>
            <a:r>
              <a:rPr sz="1425" b="0">
                <a:solidFill>
                  <a:srgbClr val="29445C"/>
                </a:solidFill>
              </a:rPr>
              <a:t>非对称编队、V形、折线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F422EF-7AFF-44E6-8660-4839920B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0025"/>
            <a:ext cx="1981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15A1A0-A793-49E1-9157-8C25DDA7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1790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4架飞机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21291C-8571-4C47-A144-825390E9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10025"/>
            <a:ext cx="22288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84443C-C2FA-4197-99BB-A9055A54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05275"/>
            <a:ext cx="2038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共享或独立Ki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0B0652-4BE8-45DE-9B0A-1561092B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0025"/>
            <a:ext cx="29527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881339-C919-4FC9-B1ED-16B504EE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05275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四个子图并集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904332-6A5C-4DC3-9BEB-84C91964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10025"/>
            <a:ext cx="4191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C56C4A-EDA8-4DFA-9C45-C633AACB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05275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445C"/>
                </a:solidFill>
              </a:defRPr>
            </a:pPr>
            <a:r>
              <a:rPr sz="1425" b="0">
                <a:solidFill>
                  <a:srgbClr val="29445C"/>
                </a:solidFill>
              </a:rPr>
              <a:t>4×4机群、环形、字母轮廓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37E04B-DEB8-43CF-9902-49EF1999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19812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123D9D-CA16-4B40-99CD-D013D334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790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任意输入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E6F9CE-3B36-4120-8266-040A8417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22288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5B4436-8F07-4003-82E2-B43F3D4C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57750"/>
            <a:ext cx="2038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手机草图→7×7掩模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30AD0F-10E6-42FE-8F3B-119AE1CB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295275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EC2B9F-4494-46AC-A6F2-E58F10FC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577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9445C"/>
                </a:solidFill>
              </a:defRPr>
            </a:pPr>
            <a:r>
              <a:rPr sz="1500" b="0">
                <a:solidFill>
                  <a:srgbClr val="29445C"/>
                </a:solidFill>
              </a:rPr>
              <a:t>每个亮点编译为一个Hk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211901-5254-45ED-A8FF-55175F4C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62500"/>
            <a:ext cx="4191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B"/>
          </a:solidFill>
          <a:ln xmlns:a="http://schemas.openxmlformats.org/drawingml/2006/main" w="12383">
            <a:solidFill>
              <a:srgbClr val="B8CAD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D1D4A3-E3A9-4CC7-98DE-84C1853B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57750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445C"/>
                </a:solidFill>
              </a:defRPr>
            </a:pPr>
            <a:r>
              <a:rPr sz="1425" b="0">
                <a:solidFill>
                  <a:srgbClr val="29445C"/>
                </a:solidFill>
              </a:rPr>
              <a:t>心形、箭头、Z及更一般点阵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7EA68C-2F12-4A33-96D5-EA58D3D8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34050"/>
            <a:ext cx="11353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2383">
            <a:solidFill>
              <a:srgbClr val="65A9D3"/>
            </a:solidFill>
            <a:prstDash val="solid"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a638822d84966">
            <a:extLst>
              <a:ext uri="{96DAC541-7B7A-43D3-8B79-37D633B846F1}">
                <asvg:svgBlip xmlns:asvg="http://schemas.microsoft.com/office/drawing/2016/SVG/main" r:embed="Ref2ac446b80e45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829300"/>
            <a:ext cx="2857500" cy="409575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0EA168-A528-4D6D-B25A-448E48C5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857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9AA"/>
                </a:solidFill>
              </a:defRPr>
            </a:pPr>
            <a:r>
              <a:rPr sz="1425" b="1">
                <a:solidFill>
                  <a:srgbClr val="1769AA"/>
                </a:solidFill>
              </a:rPr>
              <a:t>U表示对所有飞机结果取并集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A6162C-BB4B-4AEC-8754-D592A87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48350"/>
            <a:ext cx="516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9445C"/>
                </a:solidFill>
              </a:defRPr>
            </a:pPr>
            <a:r>
              <a:rPr sz="1500" b="1">
                <a:solidFill>
                  <a:srgbClr val="29445C"/>
                </a:solidFill>
              </a:rPr>
              <a:t>位置自由度：fr、fa    |    幅度自由度：宏格占比    |    形状自由度：Hk集合    |    纯净度：延迟分区相消</a:t>
            </a:r>
          </a:p>
        </p:txBody>
      </p:sp>
    </p:spTree>
    <p:extLst>
      <p:ext uri="{BB962C8B-B14F-4D97-AF65-F5344CB8AC3E}">
        <p14:creationId xmlns:p14="http://schemas.microsoft.com/office/powerpoint/2010/main" val="12235210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2026-08-17T17:29:01.6840000Z</dcterms:created>
  <dcterms:modified xsi:type="dcterms:W3CDTF">2026-08-17T17:29:01.6840000Z</dcterms:modified>
</coreProperties>
</file>