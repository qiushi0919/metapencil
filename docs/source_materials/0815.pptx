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3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ink/ink1.xml" ContentType="application/inkml+xml"/>
  <Override PartName="/ppt/ink/ink2.xml" ContentType="application/inkml+xml"/>
  <Override PartName="/ppt/media/image10.svg" ContentType="image/svg+xml"/>
  <Override PartName="/ppt/media/image11.svg" ContentType="image/svg+xml"/>
  <Override PartName="/ppt/media/image3.svg" ContentType="image/svg+xml"/>
  <Override PartName="/ppt/media/image5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sldIdLst>
    <p:sldId id="311" r:id="rId3"/>
    <p:sldId id="257" r:id="rId4"/>
    <p:sldId id="413" r:id="rId5"/>
    <p:sldId id="416" r:id="rId6"/>
    <p:sldId id="419" r:id="rId7"/>
    <p:sldId id="420" r:id="rId8"/>
    <p:sldId id="421" r:id="rId9"/>
    <p:sldId id="423" r:id="rId10"/>
    <p:sldId id="422" r:id="rId11"/>
    <p:sldId id="424" r:id="rId12"/>
    <p:sldId id="429" r:id="rId13"/>
    <p:sldId id="425" r:id="rId14"/>
    <p:sldId id="426" r:id="rId15"/>
    <p:sldId id="428" r:id="rId16"/>
    <p:sldId id="427" r:id="rId17"/>
    <p:sldId id="430" r:id="rId19"/>
    <p:sldId id="411" r:id="rId20"/>
    <p:sldId id="412" r:id="rId21"/>
    <p:sldId id="310" r:id="rId22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94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6FAF5D4-1B85-4579-ADEE-C401BFC066BE}" styleName="补充样式1">
    <a:wholeTbl>
      <a:tcTxStyle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dk1"/>
              </a:solidFill>
              <a:prstDash val="solid"/>
            </a:ln>
          </a:top>
          <a:bottom>
            <a:ln w="1905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dk1">
              <a:lumMod val="10001"/>
              <a:lumOff val="89999"/>
            </a:schemeClr>
          </a:solidFill>
        </a:fill>
      </a:tcStyle>
    </a:band2H>
    <a:band1V>
      <a:tcStyle>
        <a:tcBdr/>
        <a:fill>
          <a:solidFill>
            <a:schemeClr val="dk1">
              <a:lumMod val="10001"/>
              <a:lumOff val="89999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/>
        <a:fill>
          <a:solidFill>
            <a:schemeClr val="dk1">
              <a:lumMod val="20002"/>
              <a:lumOff val="79998"/>
            </a:schemeClr>
          </a:solidFill>
        </a:fill>
      </a:tcStyle>
    </a:lastCol>
    <a:firstCol>
      <a:tcTxStyle b="on">
        <a:fontRef idx="none">
          <a:schemeClr val="dk1"/>
        </a:fontRef>
      </a:tcTxStyle>
      <a:tcStyle>
        <a:tcBdr/>
        <a:fill>
          <a:solidFill>
            <a:schemeClr val="dk1">
              <a:lumMod val="20002"/>
              <a:lumOff val="79998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  <a:tblStyle styleId="{C1F9E9AF-564A-473F-8050-92D72BDA4403}" styleName="表样式 1 17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dk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dk1">
              <a:lumMod val="40000"/>
              <a:lumOff val="60000"/>
              <a:alpha val="25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74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608" y="828"/>
      </p:cViewPr>
      <p:guideLst>
        <p:guide orient="horz" pos="2066"/>
        <p:guide pos="394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34.xml"/><Relationship Id="rId28" Type="http://schemas.openxmlformats.org/officeDocument/2006/relationships/customXml" Target="../customXml/item1.xml"/><Relationship Id="rId27" Type="http://schemas.openxmlformats.org/officeDocument/2006/relationships/customXmlProps" Target="../customXml/itemProps33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8-16T14:0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434.000 439.000,'0.000'0.008,"0.000"0.013,0.000 0.013,0.000 0.014,0.000 0.012,0.000 0.010,0.000 0.008,0.000 0.006,0.000 0.004,0.000 0.002,0.000 0.003,0.000 0.000,0.000 0.001,0.000-0.001,0.000 0.000,0.000 0.000,0.000 0.000,0.000-0.001,0.000 0.000,0.000-0.001,0.000 0.001,0.000-0.001,0.000 0.000,0.000 0.000,0.000-0.001,0.000 0.001,0.000 0.000,0.000 0.000,0.000 0.000,0.000 0.000,0.000-0.001,0.000 0.001,0.000 0.000,0.000 0.073,0.000 0.116,0.000 0.133,0.000 0.131,0.000 0.118,0.000 0.102,0.000 0.082,0.000 0.064,0.000 0.046,0.045 0.065,0.067 0.019,0.075 0.008,0.074 0.000,0.199 0.085,0.257 0.129,0.177-0.015,0.158-0.034,0.122-0.068,-0.187-0.292,0.050-0.061,0.045-0.058,0.041-0.053,0.298 0.070,-0.014-0.096,-0.041-0.094,-0.056-0.083,-0.315-0.151,0.029-0.026,0.052-0.017,0.320 0.032,0.003-0.049,-0.026-0.051,-0.046-0.049,-0.204-0.081,-0.087-0.079,-0.090-0.083,-0.088-0.082,-0.106-0.086,-0.040-0.105,-0.027-0.108,-0.015-0.104,0.183-0.404,0.019-0.276,0.023-0.262,-0.036-0.109,0.023-0.182,0.024-0.158,-0.028-0.103,-0.057-0.062,-0.072-0.032,-0.128 0.252,-0.043 0.064,-0.033 0.079,-0.026 0.082,0.029-0.203,-0.087 0.111,-0.093 0.105,-0.060 0.120,-0.035 0.119,-0.016 0.108,-0.032 0.121,-0.038 0.118,-0.039 0.107,-0.079 0.153,-0.085 0.082,-0.092 0.069,-0.086 0.057,-0.079 0.123,-0.131 0.037,-0.141 0.031,-0.321-0.021,-0.235 0.039,-0.216 0.037,-0.189 0.031,-0.231 0.019,-0.241 0.012,-0.229 0.003,-0.353 0.009,-0.135 0.040,-0.082 0.047,0.044 0.044,0.115 0.041,0.152 0.034,0.343 0.029,0.205 0.020,0.197 0.014,0.181 0.011,0.280 0.028,0.178 0.038,0.165 0.042,0.091 0.045,0.204 0.004,0.179-0.009,0.129 0.041,0.081 0.073,0.049 0.086,0.026 0.085,0.054-0.027,0.016 0.096,0.016 0.108,0.004 0.374,0.021 0.137,0.017 0.097,0.013 0.062,0.010-0.175,0.004 0.066,0.004 0.071,0.004 0.296,0.001-0.044,0.001-0.086,0.000-0.107,-0.002-0.393,-0.001-0.086,0.000-0.084,0.006 1.000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8-16T14:02: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750.000 750.000,'-0.008'0.000,"-0.013"0.000,-0.014 0.000,-0.014 0.000,-0.013 0.000,-0.010 0.000,-0.010 0.000,-0.005 0.000,-0.006 0.000,-0.003 0.000,-0.002 0.000,-0.001 0.000,-0.001 0.000,0.001 0.000,-0.001 0.000,0.001 0.000,0.000 0.000,0.001 0.000,0.000 0.000,0.000 0.000,0.001 0.000,0.000 0.000,0.000 0.000,0.000 0.000,0.000 0.000,0.001 0.000,-0.001 0.000,0.000 0.000,0.001 0.000,-0.001 0.000,0.000 0.000,-0.044 0.000,-0.095 0.000,-0.110 0.000,-0.201 0.067,-0.101 0.101,-0.071 0.113,-0.046 0.110,0.151-0.008,-0.010 0.086,-0.011 0.088,-0.096 0.181,0.017 0.061,0.028 0.037,0.030 0.016,0.121-0.079,0.033 0.055,0.032 0.066,-0.031 0.230,0.037 0.074,0.034 0.058,0.103-0.189,0.044-0.016,0.046-0.029,0.044-0.033,0.016 0.243,0.054 0.005,0.044 0.009,0.034-0.013,0.024 0.006,0.017 0.004,0.010 0.003,0.040-0.192,0.063 0.050,0.074 0.066,0.119 0.228,0.072 0.002,0.057-0.029,0.040-0.046,-0.013-0.179,0.063 0.027,0.070 0.045,0.210 0.266,0.047-0.055,0.022-0.088,0.005-0.104,-0.132-0.268,-0.003-0.089,-0.001-0.084,-0.001-0.074,0.076 0.015,-0.014-0.047,-0.019-0.033,0.056-0.006,0.017-0.057,0.022-0.058,0.052-0.081,0.066-0.086,0.069-0.086,0.038-0.076,0.014-0.063,-0.001-0.053,0.018-0.038,0.028-0.030,0.032-0.019,-0.128-0.027,-0.002-0.032,-0.006-0.035,-0.007-0.033,-0.081-0.037,0.028-0.062,0.039-0.067,0.172-0.120,-0.024-0.056,-0.048-0.039,-0.059-0.023,-0.194 0.050,-0.047-0.024,-0.042-0.025,0.099-0.139,-0.007-0.062,0.005-0.060,0.011-0.054,-0.049-0.048,0.019-0.141,0.019-0.156,0.069-0.262,-0.012-0.156,-0.022-0.128,-0.028-0.101,-0.127 0.167,0.008-0.090,0.018-0.093,0.116-0.344,-0.034 0.012,-0.049 0.058,-0.056 0.083,-0.112 0.186,-0.059 0.022,-0.059 0.005,-0.003-0.158,-0.068 0.125,-0.061 0.147,-0.051 0.149,-0.121 0.437,-0.036 0.037,-0.035 0.014,-0.006-0.313,-0.048 0.048,-0.040 0.055,-0.030 0.059,-0.040 0.324,-0.036 0.018,-0.040 0.008,-0.086-0.255,-0.047 0.042,-0.034 0.056,-0.020 0.056,0.013 0.194,-0.045 0.003,-0.052-0.009,-0.130-0.108,-0.070 0.036,-0.059 0.051,-0.050 0.056,0.044 0.150,-0.051 0.050,-0.055 0.045,-0.161-0.016,-0.025 0.060,-0.004 0.053,0.009 0.047,0.102 0.083,0.012 0.048,0.009 0.046,0.007 0.043,0.049 0.042,0.002 0.028,-0.001 0.024,-0.002 0.020,-0.100 0.015,0.052 0.015,0.065 0.009,0.069 0.006,0.066 0.003,0.059-0.000,0.024 0.000,0.048-0.002,0.038-0.002,0.103 0.009,0.018 0.021,0.014 0.025,0.010 0.026,-0.046 0.061,0.022 0.023,0.023 0.013,0.021 0.007,0.019 0.001,0.015-0.002,0.009-0.012,-0.023 0.011,-0.028 0.012,-0.033 0.015,-0.032 0.013,-0.030 0.013,-0.025 0.010,-0.039 0.033,-0.025 0.031,-0.022 0.034,-0.019 0.032,0.024-0.059,-0.057-0.021,-0.068-0.033,-0.067-0.015,-0.024-0.018,-0.006-0.012,0.005-0.006,-0.089 0.044,0.054 0.007,0.064 0.010,-1.156 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D8437-E49B-40CE-9496-2B53792C42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9F075-18C2-4470-9133-6BE41B23B9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/>
          </p:nvPr>
        </p:nvSpPr>
        <p:spPr>
          <a:xfrm>
            <a:off x="865486" y="230561"/>
            <a:ext cx="3877985" cy="424732"/>
          </a:xfrm>
          <a:noFill/>
        </p:spPr>
        <p:txBody>
          <a:bodyPr wrap="none" rtlCol="0">
            <a:spAutoFit/>
          </a:bodyPr>
          <a:lstStyle>
            <a:lvl1pPr marL="0" indent="0">
              <a:buNone/>
              <a:defRPr lang="zh-CN" altLang="en-US" sz="2400" b="1" smtClean="0">
                <a:latin typeface="+mj-ea"/>
                <a:ea typeface="+mj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356870" y="245110"/>
            <a:ext cx="394970" cy="395605"/>
            <a:chOff x="3238500" y="527050"/>
            <a:chExt cx="395287" cy="395288"/>
          </a:xfrm>
        </p:grpSpPr>
        <p:sp>
          <p:nvSpPr>
            <p:cNvPr id="6" name="矩形 5"/>
            <p:cNvSpPr/>
            <p:nvPr userDrawn="1"/>
          </p:nvSpPr>
          <p:spPr>
            <a:xfrm>
              <a:off x="3290887" y="579438"/>
              <a:ext cx="342900" cy="342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3238500" y="527050"/>
              <a:ext cx="342900" cy="3429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10" name="直接连接符 9"/>
          <p:cNvCxnSpPr/>
          <p:nvPr userDrawn="1"/>
        </p:nvCxnSpPr>
        <p:spPr>
          <a:xfrm>
            <a:off x="865486" y="655293"/>
            <a:ext cx="10909300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defRPr>
                <a:latin typeface="微软雅黑" pitchFamily="34" charset="-122"/>
                <a:ea typeface="微软雅黑" pitchFamily="34" charset="-122"/>
              </a:defRPr>
            </a:lvl1pPr>
            <a:lvl2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defRPr>
                <a:latin typeface="微软雅黑" pitchFamily="34" charset="-122"/>
                <a:ea typeface="微软雅黑" pitchFamily="34" charset="-122"/>
              </a:defRPr>
            </a:lvl2pPr>
            <a:lvl3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defRPr>
                <a:latin typeface="微软雅黑" pitchFamily="34" charset="-122"/>
                <a:ea typeface="微软雅黑" pitchFamily="34" charset="-122"/>
              </a:defRPr>
            </a:lvl3pPr>
            <a:lvl4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defRPr>
                <a:latin typeface="微软雅黑" pitchFamily="34" charset="-122"/>
                <a:ea typeface="微软雅黑" pitchFamily="34" charset="-122"/>
              </a:defRPr>
            </a:lvl4pPr>
            <a:lvl5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E297-474B-4A86-A7C8-228BCE0B5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77DEB-90F5-4A8C-8837-7104AE75A0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600" advTm="2000">
        <p:blinds/>
      </p:transition>
    </mc:Choice>
    <mc:Fallback>
      <p:transition spd="slow" advTm="2000">
        <p:blinds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tags" Target="../tags/tag3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image" Target="../media/image6.svg"/><Relationship Id="rId5" Type="http://schemas.openxmlformats.org/officeDocument/2006/relationships/tags" Target="../tags/tag1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9" Type="http://schemas.openxmlformats.org/officeDocument/2006/relationships/tags" Target="../tags/tag17.xml"/><Relationship Id="rId18" Type="http://schemas.openxmlformats.org/officeDocument/2006/relationships/image" Target="../media/image12.png"/><Relationship Id="rId17" Type="http://schemas.openxmlformats.org/officeDocument/2006/relationships/tags" Target="../tags/tag16.xml"/><Relationship Id="rId16" Type="http://schemas.openxmlformats.org/officeDocument/2006/relationships/image" Target="../media/image11.svg"/><Relationship Id="rId15" Type="http://schemas.openxmlformats.org/officeDocument/2006/relationships/tags" Target="../tags/tag15.xml"/><Relationship Id="rId14" Type="http://schemas.openxmlformats.org/officeDocument/2006/relationships/image" Target="../media/image10.svg"/><Relationship Id="rId13" Type="http://schemas.openxmlformats.org/officeDocument/2006/relationships/tags" Target="../tags/tag14.xml"/><Relationship Id="rId12" Type="http://schemas.openxmlformats.org/officeDocument/2006/relationships/image" Target="../media/image9.svg"/><Relationship Id="rId11" Type="http://schemas.openxmlformats.org/officeDocument/2006/relationships/image" Target="../media/image8.png"/><Relationship Id="rId10" Type="http://schemas.openxmlformats.org/officeDocument/2006/relationships/tags" Target="../tags/tag13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5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7.xml"/><Relationship Id="rId5" Type="http://schemas.openxmlformats.org/officeDocument/2006/relationships/image" Target="../media/image35.png"/><Relationship Id="rId4" Type="http://schemas.openxmlformats.org/officeDocument/2006/relationships/customXml" Target="../ink/ink2.xml"/><Relationship Id="rId3" Type="http://schemas.openxmlformats.org/officeDocument/2006/relationships/image" Target="../media/image34.png"/><Relationship Id="rId2" Type="http://schemas.openxmlformats.org/officeDocument/2006/relationships/customXml" Target="../ink/ink1.xml"/><Relationship Id="rId1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8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9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矩形 88"/>
          <p:cNvSpPr/>
          <p:nvPr/>
        </p:nvSpPr>
        <p:spPr>
          <a:xfrm>
            <a:off x="0" y="6041390"/>
            <a:ext cx="12192000" cy="8166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/>
          <p:cNvSpPr txBox="1"/>
          <p:nvPr/>
        </p:nvSpPr>
        <p:spPr>
          <a:xfrm>
            <a:off x="1507555" y="2109984"/>
            <a:ext cx="897369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+mj-lt"/>
              </a:rPr>
              <a:t>8.13</a:t>
            </a:r>
            <a:endParaRPr lang="en-US" sz="3600" b="1" dirty="0">
              <a:solidFill>
                <a:schemeClr val="accent1"/>
              </a:solidFill>
              <a:latin typeface="+mj-lt"/>
            </a:endParaRPr>
          </a:p>
          <a:p>
            <a:pPr algn="ctr"/>
            <a:r>
              <a:rPr lang="zh-CN" altLang="en-US" sz="3600" b="1" dirty="0">
                <a:solidFill>
                  <a:schemeClr val="accent1"/>
                </a:solidFill>
                <a:latin typeface="+mj-lt"/>
              </a:rPr>
              <a:t>汇报</a:t>
            </a:r>
            <a:endParaRPr lang="zh-CN" altLang="en-US" sz="36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2" name="TextBox 6"/>
          <p:cNvSpPr txBox="1"/>
          <p:nvPr/>
        </p:nvSpPr>
        <p:spPr>
          <a:xfrm>
            <a:off x="3234028" y="5400824"/>
            <a:ext cx="1959610" cy="397510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汇报人：谢秋实</a:t>
            </a:r>
            <a:endParaRPr lang="zh-CN" altLang="en-US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TextBox 7"/>
          <p:cNvSpPr txBox="1"/>
          <p:nvPr/>
        </p:nvSpPr>
        <p:spPr>
          <a:xfrm>
            <a:off x="6085461" y="5400824"/>
            <a:ext cx="3012440" cy="397510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r>
              <a:rPr lang="zh-CN" altLang="en-US" sz="20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汇报日期：</a:t>
            </a:r>
            <a:r>
              <a:rPr lang="en-US" altLang="zh-CN" sz="20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2026/ 08/ 13</a:t>
            </a: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0" name="powerpoint template design by DAJU_PPT正版来源小红书大橘PPT微信DAJU_PPT请勿抄袭搬运！盗版必究！"/>
          <p:cNvCxnSpPr/>
          <p:nvPr/>
        </p:nvCxnSpPr>
        <p:spPr>
          <a:xfrm>
            <a:off x="1872062" y="3428905"/>
            <a:ext cx="840359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/>
          <p:cNvSpPr/>
          <p:nvPr/>
        </p:nvSpPr>
        <p:spPr>
          <a:xfrm>
            <a:off x="1354665" y="1"/>
            <a:ext cx="2527983" cy="23215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文本框 95"/>
          <p:cNvSpPr txBox="1"/>
          <p:nvPr/>
        </p:nvSpPr>
        <p:spPr>
          <a:xfrm>
            <a:off x="1696206" y="193976"/>
            <a:ext cx="1877438" cy="1037207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6000" b="1" spc="600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  <a:endParaRPr lang="zh-CN" altLang="en-US" sz="6000" b="1" spc="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1652029" y="1315186"/>
            <a:ext cx="1913537" cy="50443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600" dirty="0">
                <a:solidFill>
                  <a:schemeClr val="bg1"/>
                </a:solidFill>
                <a:latin typeface="+mn-ea"/>
              </a:rPr>
              <a:t>CONTENTS</a:t>
            </a:r>
            <a:endParaRPr lang="zh-CN" altLang="en-US" sz="2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54665" y="1979381"/>
            <a:ext cx="2527983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矩形 165"/>
          <p:cNvSpPr/>
          <p:nvPr/>
        </p:nvSpPr>
        <p:spPr>
          <a:xfrm>
            <a:off x="1360152" y="2071733"/>
            <a:ext cx="2527983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633855" y="2610485"/>
          <a:ext cx="8976360" cy="3422650"/>
        </p:xfrm>
        <a:graphic>
          <a:graphicData uri="http://schemas.openxmlformats.org/drawingml/2006/table">
            <a:tbl>
              <a:tblPr firstRow="1">
                <a:tableStyleId>{36FAF5D4-1B85-4579-ADEE-C401BFC066BE}</a:tableStyleId>
              </a:tblPr>
              <a:tblGrid>
                <a:gridCol w="2992120"/>
                <a:gridCol w="2992120"/>
                <a:gridCol w="2992120"/>
              </a:tblGrid>
              <a:tr h="681355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进度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汇报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</a:tr>
              <a:tr h="6978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Matlab-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电磁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欺骗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</a:tr>
              <a:tr h="6813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itchFamily="34" charset="-122"/>
                          <a:ea typeface="微软雅黑" pitchFamily="34" charset="-122"/>
                        </a:rPr>
                        <a:t>CST-Unitcell</a:t>
                      </a:r>
                      <a:r>
                        <a:rPr lang="zh-CN" altLang="en-US">
                          <a:latin typeface="微软雅黑" pitchFamily="34" charset="-122"/>
                          <a:ea typeface="微软雅黑" pitchFamily="34" charset="-122"/>
                        </a:rPr>
                        <a:t>仿真</a:t>
                      </a: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</a:tr>
              <a:tr h="68072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</a:tr>
              <a:tr h="68135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l="5765" t="7766" r="16793" b="4473"/>
          <a:stretch>
            <a:fillRect/>
          </a:stretch>
        </p:blipFill>
        <p:spPr>
          <a:xfrm>
            <a:off x="6564630" y="1071245"/>
            <a:ext cx="5627370" cy="5315585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8830" y="787400"/>
            <a:ext cx="3594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en-US" altLang="zh-CN" sz="2000" dirty="0">
                <a:latin typeface="+mj-ea"/>
                <a:ea typeface="+mj-ea"/>
                <a:sym typeface="+mn-ea"/>
              </a:rPr>
              <a:t>4*4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的飞机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群</a:t>
            </a:r>
            <a:endParaRPr lang="zh-CN" altLang="en-US" sz="2000" dirty="0">
              <a:latin typeface="+mj-ea"/>
              <a:ea typeface="+mj-ea"/>
              <a:sym typeface="+mn-ea"/>
            </a:endParaRPr>
          </a:p>
        </p:txBody>
      </p:sp>
      <p:pic>
        <p:nvPicPr>
          <p:cNvPr id="2" name="图片 1" descr="飞机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055" y="2397125"/>
            <a:ext cx="744855" cy="744855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>
            <p:custDataLst>
              <p:tags r:id="rId5"/>
            </p:custDataLst>
          </p:nvPr>
        </p:nvGraphicFramePr>
        <p:xfrm>
          <a:off x="203200" y="1367155"/>
          <a:ext cx="6337300" cy="4843145"/>
        </p:xfrm>
        <a:graphic>
          <a:graphicData uri="http://schemas.openxmlformats.org/drawingml/2006/table">
            <a:tbl>
              <a:tblPr firstRow="1" firstCol="1" bandRow="1">
                <a:tableStyleId>{C1F9E9AF-564A-473F-8050-92D72BDA4403}</a:tableStyleId>
              </a:tblPr>
              <a:tblGrid>
                <a:gridCol w="1315085"/>
                <a:gridCol w="1315085"/>
                <a:gridCol w="1315085"/>
                <a:gridCol w="1315085"/>
                <a:gridCol w="1076960"/>
              </a:tblGrid>
              <a:tr h="87312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solidFill>
                          <a:schemeClr val="tx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❌</a:t>
                      </a:r>
                      <a:endParaRPr lang="zh-CN" altLang="en-US" sz="1600">
                        <a:solidFill>
                          <a:schemeClr val="tx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❌</a:t>
                      </a:r>
                      <a:endParaRPr lang="en-US" altLang="zh-CN" sz="1600"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❌</a:t>
                      </a:r>
                      <a:endParaRPr lang="en-US" altLang="zh-CN" sz="1600"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9925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</a:rPr>
                        <a:t>距离1阶</a:t>
                      </a:r>
                      <a:endParaRPr lang="en-US" altLang="zh-CN" sz="1600">
                        <a:solidFill>
                          <a:schemeClr val="tx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距离1阶</a:t>
                      </a:r>
                      <a:endParaRPr lang="en-US" altLang="zh-CN" sz="1600">
                        <a:solidFill>
                          <a:schemeClr val="tx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❌</a:t>
                      </a:r>
                      <a:endParaRPr lang="en-US" altLang="zh-CN" sz="1600"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9925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方位1阶</a:t>
                      </a:r>
                      <a:endParaRPr lang="en-US" altLang="zh-CN" sz="1600">
                        <a:solidFill>
                          <a:schemeClr val="accent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距离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、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方位混合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1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阶</a:t>
                      </a:r>
                      <a:endParaRPr lang="zh-CN" altLang="en-US" sz="1600" b="1">
                        <a:solidFill>
                          <a:schemeClr val="accent1"/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距离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、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方位混合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1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阶</a:t>
                      </a:r>
                      <a:endParaRPr lang="zh-CN" altLang="en-US" sz="1600" b="1">
                        <a:solidFill>
                          <a:schemeClr val="accent1"/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方位1阶</a:t>
                      </a:r>
                      <a:endParaRPr lang="en-US" altLang="zh-CN" sz="1600" b="1">
                        <a:solidFill>
                          <a:schemeClr val="accent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❌</a:t>
                      </a:r>
                      <a:endParaRPr lang="en-US" altLang="zh-CN" sz="1600" b="1">
                        <a:solidFill>
                          <a:schemeClr val="accent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9925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方位1阶</a:t>
                      </a:r>
                      <a:endParaRPr lang="en-US" altLang="zh-CN" sz="1600">
                        <a:solidFill>
                          <a:schemeClr val="accent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距离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、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方位混合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1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阶</a:t>
                      </a:r>
                      <a:endParaRPr lang="zh-CN" altLang="en-US" sz="1600" b="1">
                        <a:solidFill>
                          <a:schemeClr val="accent1"/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距离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、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方位混合</a:t>
                      </a:r>
                      <a:r>
                        <a:rPr lang="en-US" altLang="zh-CN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1</a:t>
                      </a:r>
                      <a:r>
                        <a:rPr lang="zh-CN" altLang="en-US" sz="1600" b="1">
                          <a:solidFill>
                            <a:schemeClr val="accent1"/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阶</a:t>
                      </a:r>
                      <a:endParaRPr lang="zh-CN" altLang="en-US" sz="1600" b="1">
                        <a:solidFill>
                          <a:schemeClr val="accent1"/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方位1阶</a:t>
                      </a:r>
                      <a:endParaRPr lang="en-US" altLang="zh-CN" sz="1600" b="1">
                        <a:solidFill>
                          <a:schemeClr val="accent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 b="1">
                        <a:solidFill>
                          <a:schemeClr val="accent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25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</a:rPr>
                        <a:t>距离1阶</a:t>
                      </a:r>
                      <a:endParaRPr lang="en-US" altLang="zh-CN" sz="1600" b="1">
                        <a:solidFill>
                          <a:schemeClr val="tx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lt"/>
                          <a:ea typeface="+mj-lt"/>
                          <a:cs typeface="+mj-lt"/>
                          <a:sym typeface="+mn-ea"/>
                        </a:rPr>
                        <a:t>距离1阶</a:t>
                      </a:r>
                      <a:endParaRPr lang="en-US" altLang="zh-CN" sz="1600" b="1">
                        <a:solidFill>
                          <a:schemeClr val="tx2">
                            <a:lumMod val="75000"/>
                          </a:schemeClr>
                        </a:solidFill>
                        <a:latin typeface="+mj-lt"/>
                        <a:ea typeface="+mj-lt"/>
                        <a:cs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 b="1">
                        <a:solidFill>
                          <a:schemeClr val="dk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600" b="1">
                        <a:solidFill>
                          <a:schemeClr val="dk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" name="图片 5" descr="飞机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055" y="5329555"/>
            <a:ext cx="744855" cy="744855"/>
          </a:xfrm>
          <a:prstGeom prst="rect">
            <a:avLst/>
          </a:prstGeom>
        </p:spPr>
      </p:pic>
      <p:pic>
        <p:nvPicPr>
          <p:cNvPr id="7" name="图片 6" descr="飞机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930" y="2397125"/>
            <a:ext cx="744855" cy="744855"/>
          </a:xfrm>
          <a:prstGeom prst="rect">
            <a:avLst/>
          </a:prstGeom>
        </p:spPr>
      </p:pic>
      <p:pic>
        <p:nvPicPr>
          <p:cNvPr id="8" name="图片 7" descr="飞机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930" y="5329555"/>
            <a:ext cx="744855" cy="74485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l="5765" t="7766" r="16793" b="4473"/>
          <a:stretch>
            <a:fillRect/>
          </a:stretch>
        </p:blipFill>
        <p:spPr>
          <a:xfrm>
            <a:off x="118745" y="1337310"/>
            <a:ext cx="5627370" cy="5315585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8830" y="787400"/>
            <a:ext cx="3594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en-US" altLang="zh-CN" sz="2000" dirty="0">
                <a:latin typeface="+mj-ea"/>
                <a:ea typeface="+mj-ea"/>
                <a:sym typeface="+mn-ea"/>
              </a:rPr>
              <a:t>4*4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的飞机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群</a:t>
            </a:r>
            <a:endParaRPr lang="zh-CN" altLang="en-US" sz="2000" dirty="0">
              <a:latin typeface="+mj-ea"/>
              <a:ea typeface="+mj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52820" y="7874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如何消除另一侧的谐波</a:t>
            </a:r>
            <a:r>
              <a:rPr lang="en-US" altLang="zh-CN" sz="2000" dirty="0">
                <a:latin typeface="+mj-ea"/>
                <a:ea typeface="+mj-ea"/>
              </a:rPr>
              <a:t>？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29715" y="2127250"/>
            <a:ext cx="3366770" cy="321373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52820" y="1337310"/>
            <a:ext cx="5627370" cy="4898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2</a:t>
            </a:r>
            <a:r>
              <a:rPr lang="en-US" altLang="zh-CN" sz="2000" dirty="0">
                <a:latin typeface="+mj-ea"/>
                <a:ea typeface="+mj-ea"/>
              </a:rPr>
              <a:t>bit？</a:t>
            </a:r>
            <a:endParaRPr lang="en-US" altLang="zh-CN" sz="2000" dirty="0">
              <a:latin typeface="+mj-ea"/>
              <a:ea typeface="+mj-ea"/>
            </a:endParaRPr>
          </a:p>
        </p:txBody>
      </p:sp>
      <p:pic>
        <p:nvPicPr>
          <p:cNvPr id="7" name="图片 6" descr="飞机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4025" y="3302000"/>
            <a:ext cx="253365" cy="253365"/>
          </a:xfrm>
          <a:prstGeom prst="rect">
            <a:avLst/>
          </a:prstGeom>
        </p:spPr>
      </p:pic>
      <p:pic>
        <p:nvPicPr>
          <p:cNvPr id="4" name="图片 3" descr="飞机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1960" y="3302000"/>
            <a:ext cx="253365" cy="253365"/>
          </a:xfrm>
          <a:prstGeom prst="rect">
            <a:avLst/>
          </a:prstGeom>
        </p:spPr>
      </p:pic>
      <p:pic>
        <p:nvPicPr>
          <p:cNvPr id="8" name="图片 7" descr="飞机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4025" y="4372610"/>
            <a:ext cx="252730" cy="252730"/>
          </a:xfrm>
          <a:prstGeom prst="rect">
            <a:avLst/>
          </a:prstGeom>
        </p:spPr>
      </p:pic>
      <p:pic>
        <p:nvPicPr>
          <p:cNvPr id="13" name="图片 12" descr="飞机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1960" y="4372610"/>
            <a:ext cx="252730" cy="2527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rcRect l="7076" t="7351" r="8793" b="2871"/>
          <a:stretch>
            <a:fillRect/>
          </a:stretch>
        </p:blipFill>
        <p:spPr>
          <a:xfrm>
            <a:off x="5940425" y="1886585"/>
            <a:ext cx="5196840" cy="4622800"/>
          </a:xfrm>
          <a:prstGeom prst="rect">
            <a:avLst/>
          </a:prstGeom>
        </p:spPr>
      </p:pic>
      <p:pic>
        <p:nvPicPr>
          <p:cNvPr id="16" name="图片 15" descr="飞机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53350" y="3302000"/>
            <a:ext cx="367030" cy="367030"/>
          </a:xfrm>
          <a:prstGeom prst="rect">
            <a:avLst/>
          </a:prstGeom>
        </p:spPr>
      </p:pic>
      <p:pic>
        <p:nvPicPr>
          <p:cNvPr id="17" name="图片 16" descr="飞机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29040" y="3302000"/>
            <a:ext cx="367030" cy="367030"/>
          </a:xfrm>
          <a:prstGeom prst="rect">
            <a:avLst/>
          </a:prstGeom>
        </p:spPr>
      </p:pic>
      <p:pic>
        <p:nvPicPr>
          <p:cNvPr id="18" name="图片 17" descr="飞机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753350" y="4315460"/>
            <a:ext cx="367030" cy="367030"/>
          </a:xfrm>
          <a:prstGeom prst="rect">
            <a:avLst/>
          </a:prstGeom>
        </p:spPr>
      </p:pic>
      <p:pic>
        <p:nvPicPr>
          <p:cNvPr id="19" name="图片 18" descr="飞机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29040" y="4315460"/>
            <a:ext cx="367030" cy="36703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8"/>
          <a:srcRect l="38873" r="36078"/>
          <a:stretch>
            <a:fillRect/>
          </a:stretch>
        </p:blipFill>
        <p:spPr>
          <a:xfrm>
            <a:off x="10048875" y="787400"/>
            <a:ext cx="2143125" cy="3169920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8190" y="787400"/>
            <a:ext cx="110223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成像结果中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，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会出现外侧十字的高阶谐波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副像</a:t>
            </a:r>
            <a:endParaRPr lang="zh-CN" altLang="en-US" sz="2000" dirty="0">
              <a:latin typeface="+mj-ea"/>
              <a:ea typeface="+mj-ea"/>
              <a:sym typeface="+mn-ea"/>
            </a:endParaRPr>
          </a:p>
          <a:p>
            <a:pPr indent="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在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2bit，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平衡编码时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，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主要是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-3，1，5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阶三种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谐波</a:t>
            </a:r>
            <a:endParaRPr lang="zh-CN" altLang="en-US" sz="2000" dirty="0">
              <a:latin typeface="+mj-ea"/>
              <a:ea typeface="+mj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5048"/>
          <a:stretch>
            <a:fillRect/>
          </a:stretch>
        </p:blipFill>
        <p:spPr>
          <a:xfrm>
            <a:off x="6472555" y="1617345"/>
            <a:ext cx="5264150" cy="50050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t="5026"/>
          <a:stretch>
            <a:fillRect/>
          </a:stretch>
        </p:blipFill>
        <p:spPr>
          <a:xfrm>
            <a:off x="758190" y="1617345"/>
            <a:ext cx="5264785" cy="50057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8190" y="787400"/>
            <a:ext cx="110223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成像结果中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，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会出现外侧十字的高阶谐波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副像</a:t>
            </a:r>
            <a:endParaRPr lang="zh-CN" altLang="en-US" sz="2000" dirty="0">
              <a:latin typeface="+mj-ea"/>
              <a:ea typeface="+mj-ea"/>
              <a:sym typeface="+mn-ea"/>
            </a:endParaRPr>
          </a:p>
          <a:p>
            <a:pPr indent="4572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在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2bit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编码时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，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频谱会保留</a:t>
            </a:r>
            <a:endParaRPr lang="en-US" altLang="zh-CN" sz="2000" dirty="0">
              <a:latin typeface="+mj-ea"/>
              <a:ea typeface="+mj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4407"/>
          <a:stretch>
            <a:fillRect/>
          </a:stretch>
        </p:blipFill>
        <p:spPr>
          <a:xfrm>
            <a:off x="951230" y="1664970"/>
            <a:ext cx="4504055" cy="4737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5065"/>
          <a:stretch>
            <a:fillRect/>
          </a:stretch>
        </p:blipFill>
        <p:spPr>
          <a:xfrm>
            <a:off x="5911850" y="1664970"/>
            <a:ext cx="4504055" cy="4768215"/>
          </a:xfrm>
          <a:prstGeom prst="rect">
            <a:avLst/>
          </a:prstGeom>
        </p:spPr>
      </p:pic>
      <p:pic>
        <p:nvPicPr>
          <p:cNvPr id="10" name="334E55B0-647D-440b-865C-3EC943EB4CBC-1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815" y="1266190"/>
            <a:ext cx="4406265" cy="2895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8190" y="787400"/>
            <a:ext cx="11022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相关工作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1：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用的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3-bit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来改善谐波能量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，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模拟连续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相位</a:t>
            </a:r>
            <a:endParaRPr lang="zh-CN" altLang="en-US" sz="2000" dirty="0">
              <a:latin typeface="+mj-ea"/>
              <a:ea typeface="+mj-ea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65" y="1847215"/>
            <a:ext cx="4494530" cy="33928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095" y="1847215"/>
            <a:ext cx="7170420" cy="30499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50305" y="51504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bit</a:t>
            </a:r>
            <a:r>
              <a:rPr lang="zh-CN" altLang="en-US" sz="2000" dirty="0">
                <a:latin typeface="+mj-ea"/>
                <a:ea typeface="+mj-ea"/>
              </a:rPr>
              <a:t>数越高</a:t>
            </a:r>
            <a:r>
              <a:rPr lang="en-US" altLang="zh-CN" sz="2000" dirty="0">
                <a:latin typeface="+mj-ea"/>
                <a:ea typeface="+mj-ea"/>
              </a:rPr>
              <a:t>，</a:t>
            </a:r>
            <a:r>
              <a:rPr lang="zh-CN" altLang="en-US" sz="2000" dirty="0">
                <a:latin typeface="+mj-ea"/>
                <a:ea typeface="+mj-ea"/>
              </a:rPr>
              <a:t>能量在</a:t>
            </a:r>
            <a:r>
              <a:rPr lang="en-US" altLang="zh-CN" sz="2000" dirty="0">
                <a:latin typeface="+mj-ea"/>
                <a:ea typeface="+mj-ea"/>
              </a:rPr>
              <a:t>1</a:t>
            </a:r>
            <a:r>
              <a:rPr lang="zh-CN" altLang="en-US" sz="2000" dirty="0">
                <a:latin typeface="+mj-ea"/>
                <a:ea typeface="+mj-ea"/>
              </a:rPr>
              <a:t>阶越</a:t>
            </a:r>
            <a:r>
              <a:rPr lang="zh-CN" altLang="en-US" sz="2000" dirty="0">
                <a:latin typeface="+mj-ea"/>
                <a:ea typeface="+mj-ea"/>
              </a:rPr>
              <a:t>集中</a:t>
            </a:r>
            <a:endParaRPr lang="zh-CN" altLang="en-US" sz="2000" dirty="0">
              <a:latin typeface="+mj-ea"/>
              <a:ea typeface="+mj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8190" y="787400"/>
            <a:ext cx="11022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相关工作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1：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用的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3-bit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来改善谐波能量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，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模拟连续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相位</a:t>
            </a:r>
            <a:endParaRPr lang="zh-CN" altLang="en-US" sz="2000" dirty="0">
              <a:latin typeface="+mj-ea"/>
              <a:ea typeface="+mj-ea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8190" y="133731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这篇文章里面有很多</a:t>
            </a:r>
            <a:r>
              <a:rPr lang="en-US" altLang="zh-CN" sz="2000" dirty="0">
                <a:latin typeface="+mj-ea"/>
                <a:ea typeface="+mj-ea"/>
              </a:rPr>
              <a:t>SAR</a:t>
            </a:r>
            <a:r>
              <a:rPr lang="zh-CN" altLang="en-US" sz="2000" dirty="0">
                <a:latin typeface="+mj-ea"/>
                <a:ea typeface="+mj-ea"/>
              </a:rPr>
              <a:t>成像图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0" y="2066925"/>
            <a:ext cx="11747500" cy="360108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850380" y="5247005"/>
            <a:ext cx="4725670" cy="32004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8190" y="787400"/>
            <a:ext cx="110223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相关工作</a:t>
            </a:r>
            <a:r>
              <a:rPr lang="en-US" altLang="zh-CN" sz="2000" dirty="0">
                <a:latin typeface="+mj-ea"/>
                <a:ea typeface="+mj-ea"/>
                <a:sym typeface="+mn-ea"/>
              </a:rPr>
              <a:t>2：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空时联合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编码</a:t>
            </a:r>
            <a:endParaRPr lang="zh-CN" altLang="en-US" sz="2000" dirty="0">
              <a:latin typeface="+mj-ea"/>
              <a:ea typeface="+mj-ea"/>
              <a:sym typeface="+mn-ea"/>
            </a:endParaRPr>
          </a:p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为不同子区设计不同时间序列、起始相位和空间相位</a:t>
            </a:r>
            <a:endParaRPr lang="zh-CN" altLang="en-US" sz="2000" dirty="0">
              <a:latin typeface="+mj-ea"/>
              <a:ea typeface="+mj-ea"/>
              <a:sym typeface="+mn-ea"/>
            </a:endParaRPr>
          </a:p>
          <a:p>
            <a:pPr marL="342900" indent="-34290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"/>
            </a:pPr>
            <a:r>
              <a:rPr lang="zh-CN" altLang="en-US" sz="2000" dirty="0">
                <a:latin typeface="+mj-ea"/>
                <a:ea typeface="+mj-ea"/>
                <a:sym typeface="+mn-ea"/>
              </a:rPr>
              <a:t>各个分区之间是异步</a:t>
            </a:r>
            <a:r>
              <a:rPr lang="zh-CN" altLang="en-US" sz="2000" dirty="0">
                <a:latin typeface="+mj-ea"/>
                <a:ea typeface="+mj-ea"/>
                <a:sym typeface="+mn-ea"/>
              </a:rPr>
              <a:t>的</a:t>
            </a:r>
            <a:endParaRPr lang="zh-CN" altLang="en-US" sz="2000" dirty="0">
              <a:latin typeface="+mj-ea"/>
              <a:ea typeface="+mj-ea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6530" y="1986280"/>
            <a:ext cx="5337810" cy="1292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1. </a:t>
            </a:r>
            <a:r>
              <a:rPr lang="zh-CN" altLang="en-US" sz="2000" dirty="0">
                <a:latin typeface="+mj-ea"/>
                <a:ea typeface="+mj-ea"/>
              </a:rPr>
              <a:t>时间延迟给</a:t>
            </a:r>
            <a:r>
              <a:rPr lang="en-US" altLang="zh-CN" sz="2000" dirty="0">
                <a:latin typeface="+mj-ea"/>
                <a:ea typeface="+mj-ea"/>
              </a:rPr>
              <a:t>k</a:t>
            </a:r>
            <a:r>
              <a:rPr lang="zh-CN" altLang="en-US" sz="2000" dirty="0">
                <a:latin typeface="+mj-ea"/>
                <a:ea typeface="+mj-ea"/>
              </a:rPr>
              <a:t>阶谐波添加</a:t>
            </a:r>
            <a:r>
              <a:rPr lang="en-US" altLang="zh-CN" sz="2000" dirty="0">
                <a:latin typeface="+mj-ea"/>
                <a:ea typeface="+mj-ea"/>
              </a:rPr>
              <a:t>k</a:t>
            </a:r>
            <a:r>
              <a:rPr lang="zh-CN" altLang="en-US" sz="2000" dirty="0">
                <a:latin typeface="+mj-ea"/>
                <a:ea typeface="+mj-ea"/>
              </a:rPr>
              <a:t>倍</a:t>
            </a:r>
            <a:r>
              <a:rPr lang="zh-CN" altLang="en-US" sz="2000" dirty="0">
                <a:latin typeface="+mj-ea"/>
                <a:ea typeface="+mj-ea"/>
              </a:rPr>
              <a:t>相位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30" y="2408555"/>
            <a:ext cx="3959860" cy="43967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77165" y="5393055"/>
            <a:ext cx="3769360" cy="77533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8" name="334E55B0-647D-440b-865C-3EC943EB4CBC-2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070" y="1859280"/>
            <a:ext cx="5624195" cy="5492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420" y="2408555"/>
            <a:ext cx="5016500" cy="4178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995" y="822960"/>
            <a:ext cx="6577965" cy="1292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2. </a:t>
            </a:r>
            <a:r>
              <a:rPr lang="zh-CN" altLang="en-US" sz="2000" dirty="0">
                <a:latin typeface="+mj-ea"/>
                <a:ea typeface="+mj-ea"/>
              </a:rPr>
              <a:t>交织子序列把</a:t>
            </a:r>
            <a:r>
              <a:rPr lang="en-US" altLang="zh-CN" sz="2000" dirty="0">
                <a:latin typeface="+mj-ea"/>
                <a:ea typeface="+mj-ea"/>
              </a:rPr>
              <a:t>2-bit</a:t>
            </a:r>
            <a:r>
              <a:rPr lang="zh-CN" altLang="en-US" sz="2000" dirty="0">
                <a:latin typeface="+mj-ea"/>
                <a:ea typeface="+mj-ea"/>
              </a:rPr>
              <a:t>时间码变成可设计的谐波</a:t>
            </a:r>
            <a:r>
              <a:rPr lang="zh-CN" altLang="en-US" sz="2000" dirty="0">
                <a:latin typeface="+mj-ea"/>
                <a:ea typeface="+mj-ea"/>
              </a:rPr>
              <a:t>向量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95" y="1378585"/>
            <a:ext cx="4902200" cy="4826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5" y="1729740"/>
            <a:ext cx="3911600" cy="38354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195" y="1378585"/>
            <a:ext cx="5283200" cy="4826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065" y="2007870"/>
            <a:ext cx="8017510" cy="39147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995" y="822960"/>
            <a:ext cx="6577965" cy="1292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j-ea"/>
                <a:ea typeface="+mj-ea"/>
              </a:rPr>
              <a:t>2. </a:t>
            </a:r>
            <a:r>
              <a:rPr lang="zh-CN" altLang="en-US" sz="2000" dirty="0">
                <a:latin typeface="+mj-ea"/>
                <a:ea typeface="+mj-ea"/>
              </a:rPr>
              <a:t>交织子序列把</a:t>
            </a:r>
            <a:r>
              <a:rPr lang="en-US" altLang="zh-CN" sz="2000" dirty="0">
                <a:latin typeface="+mj-ea"/>
                <a:ea typeface="+mj-ea"/>
              </a:rPr>
              <a:t>2-bit</a:t>
            </a:r>
            <a:r>
              <a:rPr lang="zh-CN" altLang="en-US" sz="2000" dirty="0">
                <a:latin typeface="+mj-ea"/>
                <a:ea typeface="+mj-ea"/>
              </a:rPr>
              <a:t>时间码变成可设计的谐波</a:t>
            </a:r>
            <a:r>
              <a:rPr lang="zh-CN" altLang="en-US" sz="2000" dirty="0">
                <a:latin typeface="+mj-ea"/>
                <a:ea typeface="+mj-ea"/>
              </a:rPr>
              <a:t>向量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485" y="1420495"/>
            <a:ext cx="7935595" cy="520509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3410" y="1676400"/>
            <a:ext cx="3738880" cy="29146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思路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95" y="1264920"/>
            <a:ext cx="5013325" cy="51765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20" y="1543685"/>
            <a:ext cx="6683375" cy="51003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" y="1264920"/>
            <a:ext cx="12121515" cy="4525645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思路</a:t>
            </a:r>
            <a:endParaRPr lang="zh-CN" altLang="en-US" sz="2000" dirty="0">
              <a:latin typeface="+mj-ea"/>
              <a:ea typeface="+mj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思路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3" name="图片 2" descr="2026-08-15_15-30-45"/>
          <p:cNvPicPr>
            <a:picLocks noChangeAspect="1"/>
          </p:cNvPicPr>
          <p:nvPr/>
        </p:nvPicPr>
        <p:blipFill>
          <a:blip r:embed="rId1"/>
          <a:srcRect b="2526"/>
          <a:stretch>
            <a:fillRect/>
          </a:stretch>
        </p:blipFill>
        <p:spPr>
          <a:xfrm>
            <a:off x="2884805" y="804545"/>
            <a:ext cx="6939915" cy="60534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3599180" y="3474085"/>
              <a:ext cx="348615" cy="37338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3599180" y="3474085"/>
                <a:ext cx="348615" cy="3733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7" name="墨迹 6"/>
              <p14:cNvContentPartPr/>
              <p14:nvPr/>
            </p14:nvContentPartPr>
            <p14:xfrm>
              <a:off x="6087110" y="6061710"/>
              <a:ext cx="497840" cy="58039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5"/>
            </p:blipFill>
            <p:spPr>
              <a:xfrm>
                <a:off x="6087110" y="6061710"/>
                <a:ext cx="497840" cy="580390"/>
              </a:xfrm>
              <a:prstGeom prst="rect"/>
            </p:spPr>
          </p:pic>
        </mc:Fallback>
      </mc:AlternateContent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思路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6873"/>
          <a:stretch>
            <a:fillRect/>
          </a:stretch>
        </p:blipFill>
        <p:spPr>
          <a:xfrm>
            <a:off x="6040755" y="1371600"/>
            <a:ext cx="6151245" cy="4775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t="6862"/>
          <a:stretch>
            <a:fillRect/>
          </a:stretch>
        </p:blipFill>
        <p:spPr>
          <a:xfrm>
            <a:off x="222885" y="1371600"/>
            <a:ext cx="6149975" cy="47752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65873" y="607885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优化前</a:t>
            </a:r>
            <a:r>
              <a:rPr lang="en-US" altLang="zh-CN" sz="2000" dirty="0">
                <a:latin typeface="+mj-ea"/>
                <a:ea typeface="+mj-ea"/>
              </a:rPr>
              <a:t> 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084378" y="607885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优化后</a:t>
            </a:r>
            <a:endParaRPr lang="zh-CN" altLang="en-US" sz="2000" dirty="0">
              <a:latin typeface="+mj-ea"/>
              <a:ea typeface="+mj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390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1 Matlab-</a:t>
            </a:r>
            <a:r>
              <a:rPr lang="zh-CN" altLang="en-US" dirty="0">
                <a:solidFill>
                  <a:schemeClr val="accent1"/>
                </a:solidFill>
              </a:rPr>
              <a:t>飞机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8045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思路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6862"/>
          <a:stretch>
            <a:fillRect/>
          </a:stretch>
        </p:blipFill>
        <p:spPr>
          <a:xfrm>
            <a:off x="222885" y="1371600"/>
            <a:ext cx="6149975" cy="47752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65873" y="607885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优化前</a:t>
            </a:r>
            <a:r>
              <a:rPr lang="en-US" altLang="zh-CN" sz="2000" dirty="0">
                <a:latin typeface="+mj-ea"/>
                <a:ea typeface="+mj-ea"/>
              </a:rPr>
              <a:t> 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19583" y="607885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优化后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805" y="697865"/>
            <a:ext cx="5838825" cy="55924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898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2 CST-</a:t>
            </a:r>
            <a:r>
              <a:rPr lang="en-US" altLang="zh-CN" dirty="0">
                <a:solidFill>
                  <a:schemeClr val="accent1"/>
                </a:solidFill>
              </a:rPr>
              <a:t>Unitcell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835" y="895985"/>
            <a:ext cx="5765165" cy="34893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936105" y="8959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查一下二极管</a:t>
            </a:r>
            <a:r>
              <a:rPr lang="zh-CN" altLang="en-US" sz="2000" dirty="0">
                <a:latin typeface="+mj-ea"/>
                <a:ea typeface="+mj-ea"/>
              </a:rPr>
              <a:t>价格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69000" y="1356677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000" dirty="0">
                <a:latin typeface="+mj-ea"/>
                <a:ea typeface="+mj-ea"/>
              </a:rPr>
              <a:t>ON：R=1Ω, L=0.45nH</a:t>
            </a:r>
            <a:endParaRPr lang="zh-CN" altLang="en-US" sz="2000" dirty="0">
              <a:latin typeface="+mj-ea"/>
              <a:ea typeface="+mj-ea"/>
            </a:endParaRPr>
          </a:p>
          <a:p>
            <a:r>
              <a:rPr lang="zh-CN" altLang="en-US" sz="2000" dirty="0">
                <a:latin typeface="+mj-ea"/>
                <a:ea typeface="+mj-ea"/>
              </a:rPr>
              <a:t>OFF：R=10Ω, L=0.45nH, C=0.16pF</a:t>
            </a:r>
            <a:endParaRPr lang="zh-CN" altLang="en-US" sz="2000" dirty="0">
              <a:latin typeface="+mj-ea"/>
              <a:ea typeface="+mj-ea"/>
            </a:endParaRPr>
          </a:p>
          <a:p>
            <a:r>
              <a:rPr lang="zh-CN" altLang="en-US" sz="2000" dirty="0">
                <a:latin typeface="+mj-ea"/>
                <a:ea typeface="+mj-ea"/>
              </a:rPr>
              <a:t>每个单元使用 4 颗 PIN 二极管。</a:t>
            </a:r>
            <a:endParaRPr lang="zh-CN" altLang="en-US" sz="2000" dirty="0">
              <a:latin typeface="+mj-ea"/>
              <a:ea typeface="+mj-ea"/>
            </a:endParaRPr>
          </a:p>
          <a:p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" y="3700145"/>
            <a:ext cx="8246110" cy="302196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3105150"/>
            <a:ext cx="1600200" cy="317182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0" y="2310130"/>
            <a:ext cx="3599180" cy="16294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019180" y="274072"/>
            <a:ext cx="2289810" cy="42354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accent1"/>
                </a:solidFill>
              </a:rPr>
              <a:t>2 CST-</a:t>
            </a:r>
            <a:r>
              <a:rPr lang="en-US" altLang="zh-CN" dirty="0">
                <a:solidFill>
                  <a:schemeClr val="accent1"/>
                </a:solidFill>
              </a:rPr>
              <a:t>Unitcell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175" y="101536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短时间</a:t>
            </a:r>
            <a:r>
              <a:rPr lang="en-US" altLang="zh-CN" sz="2000" dirty="0">
                <a:latin typeface="+mj-ea"/>
                <a:ea typeface="+mj-ea"/>
              </a:rPr>
              <a:t>，X</a:t>
            </a:r>
            <a:r>
              <a:rPr lang="zh-CN" altLang="en-US" sz="2000" dirty="0">
                <a:latin typeface="+mj-ea"/>
                <a:ea typeface="+mj-ea"/>
              </a:rPr>
              <a:t>波段电磁欺骗</a:t>
            </a:r>
            <a:br>
              <a:rPr lang="zh-CN" altLang="en-US" sz="2000" dirty="0">
                <a:latin typeface="+mj-ea"/>
                <a:ea typeface="+mj-ea"/>
              </a:rPr>
            </a:br>
            <a:r>
              <a:rPr lang="zh-CN" altLang="en-US" sz="2000" dirty="0">
                <a:latin typeface="+mj-ea"/>
                <a:ea typeface="+mj-ea"/>
              </a:rPr>
              <a:t>关注背景融合式主动散射隐身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2352675"/>
            <a:ext cx="6968490" cy="3419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超表面怎么贴</a:t>
            </a:r>
            <a:r>
              <a:rPr lang="en-US" altLang="zh-CN" sz="2000" dirty="0">
                <a:latin typeface="+mj-ea"/>
                <a:ea typeface="+mj-ea"/>
              </a:rPr>
              <a:t>？</a:t>
            </a:r>
            <a:r>
              <a:rPr lang="zh-CN" altLang="en-US" sz="2000" dirty="0">
                <a:latin typeface="+mj-ea"/>
                <a:ea typeface="+mj-ea"/>
              </a:rPr>
              <a:t>硬质</a:t>
            </a: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zh-CN" altLang="en-US" sz="2000" dirty="0">
                <a:latin typeface="+mj-ea"/>
                <a:ea typeface="+mj-ea"/>
              </a:rPr>
              <a:t>柔性</a:t>
            </a: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zh-CN" altLang="en-US" sz="2000" dirty="0">
                <a:latin typeface="+mj-ea"/>
                <a:ea typeface="+mj-ea"/>
              </a:rPr>
              <a:t>真正弄出来怎么做</a:t>
            </a: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zh-CN" altLang="en-US" sz="2000" dirty="0">
                <a:latin typeface="+mj-ea"/>
                <a:ea typeface="+mj-ea"/>
              </a:rPr>
              <a:t>考虑一下</a:t>
            </a:r>
            <a:endParaRPr lang="zh-CN" altLang="en-US" sz="2000" dirty="0">
              <a:latin typeface="+mj-ea"/>
              <a:ea typeface="+mj-ea"/>
            </a:endParaRPr>
          </a:p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硬质</a:t>
            </a: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zh-CN" altLang="en-US" sz="2000" dirty="0">
                <a:latin typeface="+mj-ea"/>
                <a:ea typeface="+mj-ea"/>
              </a:rPr>
              <a:t>柔性</a:t>
            </a: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zh-CN" altLang="en-US" sz="2000" dirty="0">
                <a:latin typeface="+mj-ea"/>
                <a:ea typeface="+mj-ea"/>
              </a:rPr>
              <a:t>共形</a:t>
            </a:r>
            <a:r>
              <a:rPr lang="zh-CN" altLang="en-US" sz="2000" dirty="0">
                <a:latin typeface="+mj-ea"/>
                <a:ea typeface="+mj-ea"/>
              </a:rPr>
              <a:t>超表面</a:t>
            </a:r>
            <a:br>
              <a:rPr lang="zh-CN" altLang="en-US" sz="2000" dirty="0">
                <a:latin typeface="+mj-ea"/>
                <a:ea typeface="+mj-ea"/>
              </a:rPr>
            </a:br>
            <a:br>
              <a:rPr lang="zh-CN" altLang="en-US" sz="2000" dirty="0">
                <a:latin typeface="+mj-ea"/>
                <a:ea typeface="+mj-ea"/>
              </a:rPr>
            </a:br>
            <a:r>
              <a:rPr lang="zh-CN" altLang="en-US" sz="2000" dirty="0">
                <a:latin typeface="+mj-ea"/>
                <a:ea typeface="+mj-ea"/>
              </a:rPr>
              <a:t>四个战机</a:t>
            </a: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zh-CN" altLang="en-US" sz="2000" dirty="0">
                <a:latin typeface="+mj-ea"/>
                <a:ea typeface="+mj-ea"/>
              </a:rPr>
              <a:t>每个战机处于谐波的某个点</a:t>
            </a: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zh-CN" altLang="en-US" sz="2000" dirty="0">
                <a:latin typeface="+mj-ea"/>
                <a:ea typeface="+mj-ea"/>
              </a:rPr>
              <a:t>中间隔着</a:t>
            </a:r>
            <a:r>
              <a:rPr lang="en-US" altLang="zh-CN" sz="2000" dirty="0">
                <a:latin typeface="+mj-ea"/>
                <a:ea typeface="+mj-ea"/>
              </a:rPr>
              <a:t>2</a:t>
            </a:r>
            <a:r>
              <a:rPr lang="zh-CN" altLang="en-US" sz="2000" dirty="0">
                <a:latin typeface="+mj-ea"/>
                <a:ea typeface="+mj-ea"/>
              </a:rPr>
              <a:t>个假目标</a:t>
            </a:r>
            <a:br>
              <a:rPr lang="zh-CN" altLang="en-US" sz="2000" dirty="0">
                <a:latin typeface="+mj-ea"/>
                <a:ea typeface="+mj-ea"/>
              </a:rPr>
            </a:br>
            <a:r>
              <a:rPr lang="zh-CN" altLang="en-US" sz="2000" dirty="0">
                <a:latin typeface="+mj-ea"/>
                <a:ea typeface="+mj-ea"/>
              </a:rPr>
              <a:t>把另一侧谐波消除掉</a:t>
            </a:r>
            <a:r>
              <a:rPr lang="en-US" altLang="zh-CN" sz="2000" dirty="0">
                <a:latin typeface="+mj-ea"/>
                <a:ea typeface="+mj-ea"/>
              </a:rPr>
              <a:t>（</a:t>
            </a:r>
            <a:r>
              <a:rPr lang="zh-CN" altLang="en-US" sz="2000" dirty="0">
                <a:latin typeface="+mj-ea"/>
                <a:ea typeface="+mj-ea"/>
              </a:rPr>
              <a:t>对称的两个只留下一个</a:t>
            </a: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zh-CN" altLang="en-US" sz="2000" dirty="0">
                <a:latin typeface="+mj-ea"/>
                <a:ea typeface="+mj-ea"/>
              </a:rPr>
              <a:t>单边带</a:t>
            </a:r>
            <a:r>
              <a:rPr lang="en-US" altLang="zh-CN" sz="2000" dirty="0">
                <a:latin typeface="+mj-ea"/>
                <a:ea typeface="+mj-ea"/>
              </a:rPr>
              <a:t>）</a:t>
            </a:r>
            <a:br>
              <a:rPr lang="en-US" altLang="zh-CN" sz="2000" dirty="0">
                <a:latin typeface="+mj-ea"/>
                <a:ea typeface="+mj-ea"/>
              </a:rPr>
            </a:br>
            <a:endParaRPr lang="en-US" altLang="zh-CN" sz="2000" dirty="0">
              <a:latin typeface="+mj-ea"/>
              <a:ea typeface="+mj-ea"/>
            </a:endParaRPr>
          </a:p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单元结构的斜入射和形变</a:t>
            </a:r>
            <a:r>
              <a:rPr lang="en-US" altLang="zh-CN" sz="2000" dirty="0">
                <a:latin typeface="+mj-ea"/>
                <a:ea typeface="+mj-ea"/>
              </a:rPr>
              <a:t>（</a:t>
            </a:r>
            <a:r>
              <a:rPr lang="zh-CN" altLang="en-US" sz="2000" dirty="0">
                <a:latin typeface="+mj-ea"/>
                <a:ea typeface="+mj-ea"/>
              </a:rPr>
              <a:t>底板变成曲面</a:t>
            </a:r>
            <a:r>
              <a:rPr lang="en-US" altLang="zh-CN" sz="2000" dirty="0">
                <a:latin typeface="+mj-ea"/>
                <a:ea typeface="+mj-ea"/>
              </a:rPr>
              <a:t>）</a:t>
            </a:r>
            <a:r>
              <a:rPr lang="zh-CN" altLang="en-US" sz="2000" dirty="0">
                <a:latin typeface="+mj-ea"/>
                <a:ea typeface="+mj-ea"/>
              </a:rPr>
              <a:t>的效果</a:t>
            </a:r>
            <a:br>
              <a:rPr lang="zh-CN" altLang="en-US" sz="2000" dirty="0">
                <a:latin typeface="+mj-ea"/>
                <a:ea typeface="+mj-ea"/>
              </a:rPr>
            </a:br>
            <a:r>
              <a:rPr lang="zh-CN" altLang="en-US" sz="2000" dirty="0">
                <a:latin typeface="+mj-ea"/>
                <a:ea typeface="+mj-ea"/>
              </a:rPr>
              <a:t>不同形变角度</a:t>
            </a: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zh-CN" altLang="en-US" sz="2000" dirty="0">
                <a:latin typeface="+mj-ea"/>
                <a:ea typeface="+mj-ea"/>
              </a:rPr>
              <a:t>改变单元结构</a:t>
            </a:r>
            <a:br>
              <a:rPr lang="zh-CN" altLang="en-US" sz="2000" dirty="0">
                <a:latin typeface="+mj-ea"/>
                <a:ea typeface="+mj-ea"/>
              </a:rPr>
            </a:br>
            <a:r>
              <a:rPr lang="zh-CN" altLang="en-US" sz="2000" dirty="0">
                <a:latin typeface="+mj-ea"/>
                <a:ea typeface="+mj-ea"/>
              </a:rPr>
              <a:t>摸一下整体的工艺</a:t>
            </a:r>
            <a:r>
              <a:rPr lang="en-US" altLang="zh-CN" sz="2000" dirty="0">
                <a:latin typeface="+mj-ea"/>
                <a:ea typeface="+mj-ea"/>
              </a:rPr>
              <a:t> </a:t>
            </a:r>
            <a:r>
              <a:rPr lang="zh-CN" altLang="en-US" sz="2000" dirty="0">
                <a:latin typeface="+mj-ea"/>
                <a:ea typeface="+mj-ea"/>
              </a:rPr>
              <a:t>柔性</a:t>
            </a:r>
            <a:r>
              <a:rPr lang="en-US" altLang="zh-CN" sz="2000" dirty="0">
                <a:latin typeface="+mj-ea"/>
                <a:ea typeface="+mj-ea"/>
              </a:rPr>
              <a:t>/</a:t>
            </a:r>
            <a:r>
              <a:rPr lang="zh-CN" altLang="en-US" sz="2000" dirty="0">
                <a:latin typeface="+mj-ea"/>
                <a:ea typeface="+mj-ea"/>
              </a:rPr>
              <a:t>硬质电路板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44185" y="1015365"/>
            <a:ext cx="6188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+mj-ea"/>
                <a:ea typeface="+mj-ea"/>
              </a:rPr>
              <a:t>关于二极管价格</a:t>
            </a:r>
            <a:r>
              <a:rPr lang="en-US" altLang="zh-CN" sz="2000" dirty="0">
                <a:latin typeface="+mj-ea"/>
                <a:ea typeface="+mj-ea"/>
              </a:rPr>
              <a:t>，</a:t>
            </a:r>
            <a:r>
              <a:rPr lang="zh-CN" altLang="en-US" sz="2000" dirty="0">
                <a:latin typeface="+mj-ea"/>
                <a:ea typeface="+mj-ea"/>
              </a:rPr>
              <a:t>问一下灏然和璐瑶</a:t>
            </a:r>
            <a:r>
              <a:rPr lang="en-US" altLang="zh-CN" sz="2000" dirty="0">
                <a:latin typeface="+mj-ea"/>
                <a:ea typeface="+mj-ea"/>
              </a:rPr>
              <a:t>，</a:t>
            </a:r>
            <a:r>
              <a:rPr lang="zh-CN" altLang="en-US" sz="2000" dirty="0">
                <a:latin typeface="+mj-ea"/>
                <a:ea typeface="+mj-ea"/>
              </a:rPr>
              <a:t>去哪里</a:t>
            </a:r>
            <a:r>
              <a:rPr lang="zh-CN" altLang="en-US" sz="2000" dirty="0">
                <a:latin typeface="+mj-ea"/>
                <a:ea typeface="+mj-ea"/>
              </a:rPr>
              <a:t>买</a:t>
            </a:r>
            <a:endParaRPr lang="zh-CN" altLang="en-US" sz="2000" dirty="0">
              <a:latin typeface="+mj-ea"/>
              <a:ea typeface="+mj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矩形 88"/>
          <p:cNvSpPr/>
          <p:nvPr/>
        </p:nvSpPr>
        <p:spPr>
          <a:xfrm>
            <a:off x="0" y="3996638"/>
            <a:ext cx="12192000" cy="2861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341153" y="318782"/>
            <a:ext cx="11509695" cy="616590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TextBox 6"/>
          <p:cNvSpPr txBox="1"/>
          <p:nvPr/>
        </p:nvSpPr>
        <p:spPr>
          <a:xfrm>
            <a:off x="3528644" y="5400824"/>
            <a:ext cx="1979981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汇报人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谢秋实</a:t>
            </a:r>
            <a:endParaRPr lang="zh-CN" altLang="en-US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TextBox 7"/>
          <p:cNvSpPr txBox="1"/>
          <p:nvPr/>
        </p:nvSpPr>
        <p:spPr>
          <a:xfrm>
            <a:off x="6390261" y="5400824"/>
            <a:ext cx="3164840" cy="397510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汇报日期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2026 / 08 / 13</a:t>
            </a:r>
            <a:endParaRPr lang="zh-CN" altLang="en-US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2077581" y="2741408"/>
            <a:ext cx="8524984" cy="722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chemeClr val="accent1"/>
                </a:solidFill>
                <a:latin typeface="+mj-ea"/>
                <a:ea typeface="+mj-ea"/>
              </a:rPr>
              <a:t>汇报完毕，敬请老师批评指正！</a:t>
            </a:r>
            <a:endParaRPr lang="zh-CN" altLang="en-US" sz="40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TABLE_ENDDRAG_ORIGIN_RECT" val="706*269"/>
  <p:tag name="TABLE_ENDDRAG_RECT" val="128*205*706*269"/>
</p:tagLst>
</file>

<file path=ppt/tags/tag2.xml><?xml version="1.0" encoding="utf-8"?>
<p:tagLst xmlns:p="http://schemas.openxmlformats.org/presentationml/2006/main">
  <p:tag name="ISLIDE.ICON" val="#151995;#35668;#151995;#151255;#152036;#379828;"/>
  <p:tag name="resource_record_key" val="{&quot;29&quot;:[50000042,50000047,50000140,50000199]}"/>
</p:tagLst>
</file>

<file path=ppt/tags/tag3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4.xml><?xml version="1.0" encoding="utf-8"?>
<p:tagLst xmlns:p="http://schemas.openxmlformats.org/presentationml/2006/main">
  <p:tag name="TABLE_ENDDRAG_ORIGIN_RECT" val="517*390"/>
  <p:tag name="TABLE_ENDDRAG_RECT" val="33*98*517*390"/>
</p:tagLst>
</file>

<file path=ppt/tags/tag5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6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7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8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9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10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11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12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13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14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15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16.xml><?xml version="1.0" encoding="utf-8"?>
<p:tagLst xmlns:p="http://schemas.openxmlformats.org/presentationml/2006/main">
  <p:tag name="KSO_DOCER_RESOURCE_TRACE_INFO" val="{&quot;id&quot;:&quot;50063415&quot;,&quot;origin&quot;:0,&quot;type&quot;:&quot;icons&quot;,&quot;user&quot;:&quot;1548672135&quot;}"/>
</p:tagLst>
</file>

<file path=ppt/tags/tag17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18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19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0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1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2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3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4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5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6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7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8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29.xml><?xml version="1.0" encoding="utf-8"?>
<p:tagLst xmlns:p="http://schemas.openxmlformats.org/presentationml/2006/main">
  <p:tag name="ISLIDE.ICON" val="#141107;#134835;#407486;#379587;#381915;#100228;#31176;#384814;"/>
  <p:tag name="resource_record_key" val="{&quot;10&quot;:[50063415],&quot;29&quot;:[50052948]}"/>
</p:tagLst>
</file>

<file path=ppt/tags/tag30.xml><?xml version="1.0" encoding="utf-8"?>
<p:tagLst xmlns:p="http://schemas.openxmlformats.org/presentationml/2006/main">
  <p:tag name="ISLIDE.ICON" val="#141107;#134835;#407486;#379587;#381915;#100228;#31176;#384814;"/>
  <p:tag name="resource_record_key" val="{&quot;29&quot;:[50000199]}"/>
</p:tagLst>
</file>

<file path=ppt/tags/tag31.xml><?xml version="1.0" encoding="utf-8"?>
<p:tagLst xmlns:p="http://schemas.openxmlformats.org/presentationml/2006/main">
  <p:tag name="ISLIDE.ICON" val="#141107;#134835;#407486;#379587;#381915;#100228;#31176;#384814;"/>
  <p:tag name="resource_record_key" val="{&quot;29&quot;:[50000199]}"/>
</p:tagLst>
</file>

<file path=ppt/tags/tag32.xml><?xml version="1.0" encoding="utf-8"?>
<p:tagLst xmlns:p="http://schemas.openxmlformats.org/presentationml/2006/main">
  <p:tag name="ISLIDE.ICON" val="#151995;#35668;#151995;#151255;#152036;#379828;"/>
</p:tagLst>
</file>

<file path=ppt/tags/tag34.xml><?xml version="1.0" encoding="utf-8"?>
<p:tagLst xmlns:p="http://schemas.openxmlformats.org/presentationml/2006/main">
  <p:tag name="COMMONDATA" val="eyJoZGlkIjoiZGE3Y2I3OTRlNTA1NjUwZGY1NGI3NTM4NWZhMGI4N2IifQ=="/>
  <p:tag name="RESOURCE_RECORD_KEY" val="{&quot;29&quot;:[50053276,50052993,50053104,50053246,50000199]}"/>
  <p:tag name="resource_record_key" val="{&quot;29&quot;:[50053276,50052993,50053104,50053246,50000199,50052948]}"/>
</p:tagLst>
</file>

<file path=ppt/theme/theme1.xml><?xml version="1.0" encoding="utf-8"?>
<a:theme xmlns:a="http://schemas.openxmlformats.org/drawingml/2006/main" name="Office 主题​​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F88"/>
      </a:accent1>
      <a:accent2>
        <a:srgbClr val="CA865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 cap="flat" cmpd="sng">
          <a:solidFill>
            <a:srgbClr val="FF0000"/>
          </a:solidFill>
          <a:prstDash val="solid"/>
        </a:ln>
      </a:spPr>
      <a:bodyPr vert="horz" wrap="square" lIns="91440" tIns="45720" rIns="91440" bIns="45720" numCol="1" anchor="t" anchorCtr="0" compatLnSpc="1">
        <a:noAutofit/>
      </a:bodyPr>
      <a:lstStyle>
        <a:defPPr marL="0" marR="0" lvl="0" indent="0" algn="l" defTabSz="914400" rtl="0" eaLnBrk="0" fontAlgn="base" latinLnBrk="0" hangingPunct="0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lang="zh-CN" altLang="zh-CN" sz="18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+mj-ea"/>
            <a:ea typeface="+mj-ea"/>
          </a:defRPr>
        </a:defPPr>
      </a:lstStyle>
    </a:spDef>
    <a:txDef>
      <a:spPr>
        <a:noFill/>
      </a:spPr>
      <a:bodyPr wrap="square" rtlCol="0">
        <a:spAutoFit/>
      </a:bodyPr>
      <a:lstStyle>
        <a:defPPr indent="0" algn="l" fontAlgn="auto">
          <a:lnSpc>
            <a:spcPct val="120000"/>
          </a:lnSpc>
          <a:spcBef>
            <a:spcPts val="0"/>
          </a:spcBef>
          <a:spcAft>
            <a:spcPts val="0"/>
          </a:spcAft>
          <a:defRPr lang="zh-CN" altLang="en-US" sz="2000" dirty="0">
            <a:latin typeface="+mj-ea"/>
            <a:ea typeface="+mj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0cnVlfSIsCgkiTGF0ZXgiIDogIlhDaHVQVnhzWkc5MGN5d3ROeXd0TXl3ck1Td3JOU3dyT1N4Y2JHUnZkSE5jS1E9PSIsCgkiTGF0ZXhJbWdCYXNlNjQiIDogImlWQk9SdzBLR2dvQUFBQU5TVWhFVWdBQUJGY0FBQUJKQkFNQUFBQUs0OVEyQUFBQU1GQk1WRVgvLy84QUFBQUFBQUFBQUFBQUFBQUFBQUFBQUFBQUFBQUFBQUFBQUFBQUFBQUFBQUFBQUFBQUFBQUFBQUFBQUFBdjNhQjdBQUFBRDNSU1RsTUFWTHZ2elpreUVOMnJabmFKUkNJR1hHTDBBQUFBQ1hCSVdYTUFBQTdFQUFBT3hBR1ZLdzRiQUFBUGZVbEVRVlI0QWUxZGI0d2tSUlh2dlQ4N2Q4dnRId1VsMGNTWmlCaU02SjZlQ0VSa05pckdZT0plQUUwdUpzNG9FajhZMmIxYzVBTlJkd1ZFb3RFNUk0bC9BdG5GaUg0d1pzOUlndkVEczJCSS9KTzRHd3pxRjVoUlVjSkZzc3ZOSXJzS2xPOTFWMVZYZGIvcXFlcXV2ZTJidmY2d1hWMzkzcTkrVmZYcVZkWHI3dGtnT0grY2I0RmQwUUtUSjNkRk5jOVgwa2NMdFA3ckF5WEVPSDdUbmIwN0hwMzFnWGZ6dFFWUlB0K1VBSldmeVdTdXhQRjdXNXR2NytaU0hUUWx4amJ2KzhPdkgzaU5PQzdPWGNFbldIaHNyZVpHa0lxajdBV1p6cGRvYlA2VUt3NHRiT2FENEZxZkRXdTE2YUZXaFdpVVFYazQ2dUg0NzZ0NVdUM0ROaDY5OWZtSEdOdG81b1VRZXBWR2NXTmg3R3MvZnpiNHlxY2ZZK3dWZ1p2bi9CeGoxOS82ZklPZDhlSXg4ekFvajg1UWJDWlJhajBudHhIMmN0aWNGekwydjV3UVFxM3lTK2JEV0dUTmxnVndqdk1vWSs4RnRiRkpWblJpekZGNDJWUU95U2JsaVZNNUdiWmZqSWJlR09BY3pZa1JxWjJlQklqQzAxQmNyNWVMc0ZsaUcyRzlEckpldHdqT1FPZ2VqQnMxVEcza3JOVVFtK0NhMVVLdTVYVTN0RUllSG8xbE1XZVZVTzBDeHE2TTFLZlB1NWJnUU1KWThpNVpUc2k1QnhGWGJmcG41Rk9FVkFPMHIzbkd5Yk04MkRYZ1JGWDdNSEdYeWlMcGRHUmQxbGplY1VRVmRtN21qVWN0S3Y4Sy8rQmFtemE3dWhucDRNUldzMUdmT1VOSTNYalBkVDhKOXJrWXl6QlpXa1BVNkgxRUlXUVdSV2Vzemw3a3d2c1pXeVQxZGxIbTJ1YnJuNDJyMjltSzAyNHBtRHo0cGdQM1YxYitxV3JjMGpvWnl4Q2JKNmcyZXBHMVhFL2NvN01vT2tCRVZBWFdZbnhDb3RWM1EyNUgzVmRXNm9kejFya0NYY1A3SHBOV2diNmxucWt3SjJNWllSVHB4dUhUeHo1eTEzME9VU09LVHBXeEtVR3l4UXF0bEFYTXVYeHVxeTE5a0RWejFpVU0xOHhHeW1Bc1ZzMUs5VTZFNE1WWVhHdEMwUUYvdVN4d0dzeG8zRUprME04TFI1VWFMbGwxc3FJZ2t3bGpFUk85dkU4bHFONko1TXBpTEJCa2tadThBTHpNS2xXTlhaUTNQUkZYZGl6MnVYR21aUXFhbFE4OG5JYXNqSzc4eGdLTFd0WVZEVEREMkVtUjNxWG51REVDMklUSWxuRnVqWWFNcnFDVEtjT2F4YlVLaE8zdWhhck1DcHc1eGw0UzZkMTVyakNsM2l0V2Zhd29LRWtJN2kxSGwraTcvNlBjTVNhSjN1R3laWm1HMWxSakdYZlp6eHNyZlM3ZkdGVWlUY09GM096Zi9zTGJBWUtlNVA0azFVemxONVlPVkVYU0JtT3htbDJsd3VBbHBKY05nZ005NVNKL1RmZEFDeS9icUpmZldLcXFzY0NjUkVVUmJXbzZnRElMYXNnbGYvMWdCTVlUZlJaTStZMmxyUm9MUE1id3RIZCs3WkhybW1IREhMK3BmdFVQczVxb3RQZUc3UHhCWC81VlczZGRmbU5aU1JpTDNTRG8xMElIR1grSThFVUlaTXA5UVQrdGN0MC93U093UlZtMWxLaG5KbGI1alVYekxMRHE5aE5vV2JnN1dNSG5XUmV3SzVyQmFKMTh0SlhaY0NXNE9TbWVnaFRqQXBzaHl6Yy90dDFZUm4vM2xrc2ZzYTROUVFlY1pMekFSV001WlkxbUZoeUJwZUZlZkVGc0lYeFF2eVlmVlpwVlNuZG5wT0FyUzZKQy8yQzJMMzRRdmNOQi9HeWQvd205eTloSEJiRitaNEpPQi9TbEdockxzcnpLbjlnTHIrckFKaURZczlGRkVJZzVOUEY4VGgxemZpYmtvTVUydTNZVkozcUhLM294bHYzc2lqZk5ubTZ4YjlteENRZzZhNnF4NEhzNlJ5Mnhzc1NxODBFQW9lR0o2Vm9vQmUrMW5zd1NMK1c5eUNrV3B2WlgreFlsZW9jWDc4TllybTE5RmRHZ1d5eDdtS0NqUlhCeGwrZWpXeWRQaGU3a0dOK0hROEQ3Y0xyVmIzdktkRHlkRmo3ck9hTVVaVmNXbFgvOWlMRzMybW9SdmNOVmZSaExieXNDYXpPZTZFZUxvS005RzBJM1Urc0gwdjkrQlQwNFRtbFRrU3c4U2tzL1JhalVRY0J3Z0szdDlISEFkZ0JtRUwwRXEvZk9EQUg5RnRFN1hNQ0hzWWoxQmF3SlR1cmxHcTRJT3ZqcHc2b1FyOExGbExqSWZ4NUJqNEl1cXh0aHdFdFY2WjBGUGpJeEhiVklieWYvVm9zdnN5cXdhWWJJd1I5dHEwSDBEbGYxWVN3aU5BOGoxKzZSRjBXbnJyeEwyWURLVGRuV3pTeTNEOW1BbHhLa1lCcEtHMHZ3WFNpTVBqYWw5WnJMMk80N0xUOVJsdHQreTlnN0xMbFN2Uk9wZWpDV2xTbkJZa1VPWXBGRG55azZiV1hGVTRmT202ZFZYWExIMFRTcXNkMk5NTGJ1b2w4Q1dmaEV6Qk1MYU4vdjJVRlJ2Uk5wZWpDVzIyY0ZpWm00WTBRV2VhYm93SFJ4bUF1SE04TThxZW1VMlVIQVJyeGZobldSQjFRbkNrV0Y5OXE5VldCUkRMalZYdE5DTHFEMnFselBnN0hFREtERGM3OHhBWXNXOGNCc3p4WjRscWtZTm05cVpSazBXL0YzSlZEWFdsNnNIZEtyK3ZPRjRHSkZBMmRYaGhyS2tZWlhZNEVWcnRYVFlwSk9RL1pxNTNFd2xscDJqV3p1UHRFTkFsaEhTVWMrN2lmVVoxTzBMNWxwSCswUWtjRlhGRlp0ZUpHOUV5cDZOUlo4djJiV2dnOUpCNWdzaHJxVkkvRFl6M0pmMWJjd3hXRUZIY3ZXNmd2cVErQjVPcnJ6WjYzOVlPNVl6aTVzaklaNTZuTXBOY0F5Zm1GVCtZSUMwK2dwRjA5MUZhQyt4cUxHcko1azcxZHdubFpnb2lTc0lIbUhwMjVaMEpubWM5aWVGOEJEOVd1a1ZBR0dERmluckl0YkRlV0pnc2picVRNR3FjbERteXFBL1VRMnd4WUpBcG1yS2IxcHM5OC9ZVUxSbjlUM001WkszWXh6S3NrSGhySEpJMWpRQVJQQkdvNjFqcUxIVElFbkM3TzdoazZaRXBMSzhrVms3ZGdacGtUNkNCOTVDbG9nMVJWcCtreURRRzY2L2RxUWl3MU1IQjI0WlRqVWRVVS9ZM0dLV2FId1lZSUxaSFVNWENCYjBybVFuYms0K1BMQ2kySFVkWUxHY2MyZGkzMFV4T1Mwbm5DRjhpcC95T0FTZWg5VGk2bjI5WVVRUHlHUDkzUlZuREE5QTRKVHFkd3c0MkNkQk1GTTlYbGZQMk54aWxuaHRMaGVnTTV2a0Yxdkl2d0pnUzZONDVwYmpVY1RUSkpXZXpYWElyWlJmc0hYRzRQSUVkd1VGWlJNMFNkWGxLRlVYMk5Sc2VqUFYyTUpOSmIwMDVmNHZrZ1o2ZHh5R2J0Nk1RelJlM3F0TW1qRVl4T3FPaThZbkNObithR3lENzY0VEJMQjdDdzhZKys0L1lvQ1pTeVZHOTh0SjBMOGRhRlhzM2p3ZTJZNmtRREVheXdmU2ZZdFRGbW5yTVV6VWwrMWNnakF0QzduNk9LTVlMQllOYXU1ZHdwN0ZyQlhhYTdvV1d3OHZabE8xQ1J6M2xZWGFwaWwzWGUxV0x4RC9DTEFUNnBZZloxc0xuWDRrbmdvNDdaQitSekpxR1R1bmNMR3NnS3JERkZ1NFdtSUEzWHNiRTRVbTNHRy9abmNpOEs3WXBUa3NCSU4wSlBwMkFDbHY0MTVNQkJsUkRGZk1kQ1NFZ0VERW1RTEpLQzMwVmltZ1VLVEY0ZTdJY01DVnlOa3BoT0p0WTJiS2czRzRrSUpzOEFjS2R0TjBYU0tEU2g2WnlNNXAzanRYT1dGbFd0eVZmUXNPMndzTGFBZ0ZpMHdqazFiWjYydS9ZeGxnUW9UYUFpMkYrQTRwN2dzK0hSY1Q0MG0zZ0p5aWczWUZ1dEpybFBVV0RCS0tzT2J1R2F4V1FLWmU2ZndOSVNlWlpZM0RuSTdhZEZRWmpxUk1oaWdnTFJBeXhLWmk5c0tmUG84aU81TExxcEsvRDVMdStnMzMrRVBwTlo0QStGdXlHWUpaTzZkd3NheW9IaDM1TGJJcVdXZHpIUkNMVmlWK3RvTWRXSzNOeE81cTdYMUxHYmx1Z2R0Vyt5blJQRmhuWHd2RS9hWVZuRG0zaWxzTEN1c3R5aWFHR2RGRzVkQTB2blZ4aXJIZ1NyS1ZhbUF6bmxlaVFsQnNnc29LN1djVUR1Z0JoNjJXRVBndWtBK1hacUR0TTFJSVhzbnJIMWhZNWw1S1RZUHNGMmJ2Um41ZWcyczFjVW9Bbi9wcTBlbjR5VWRqN2kwSmdyMStpMlhOaFA2d3pkOG9tOU84T1RieEVoSXlHWmVRdThtak1VUkJ3TmZjcGxTaFl0YVZON29EZmViQzNZd2xpdzZWRkFPUCtRU3gxcGNPV2M2b0N1MjRKM0lCNFNvYVRvMjNSVUlvWGlXaG5iRGVOQ3dLRVJ3ZGp1RDAwdHVxZHJ4c29oanBYTmdmazZxV1pRTDAzRWliT1dNQTc3cHFDaHBCZUNhMFFVa2wwVjI2bXh2TEpsMEtHTTVwUGdTNEZEalpUdlRxVUpWdUkrYWpCLzRwZWxZZFpjUWdxMk9zR1ZJNHBPSVBjV2VKWGFBcGU0amNEZWxELzkwVG9CcUU2bGU2WmVSam5FNjR5eHR4YittVzVkTFFXUW8yaVZOSXROWVpBQVc5VExwVU1aU1VWb0I2RFNqd3QzcExFRUZJbU9CaVhZK1FxSG9JTUYrM1JYV0FvWEExc1N6S21DMERqbmhlN2tDM2YyOEFLWFhORFVNZFVsUEg5NUo1d1NvTnFXcDJWeGdJK3A3TjJlY0E2SkRnZ0NhVlRRR01sVEdlSUtMMlZoZ2ZhQ050VXc2bExFRWpWZEZZVENlQlpZN25ZN2tENisrTkFWa21nN20xTVR0OEd6b0hCU0NGZGw4S0FPdnlVVGQxVnJrMS9sT0xTaDlYbFBGRGFrZTZrcm53SXZBZGcvTk5PU3dlM1ZqY2NZWkR2L1JTZ2lMdFBnb3cyUzQydGZMNDFkbVl4bVBaL1ZRTnBNT2FTd0hObWQ1S1ROeGxNV2R6aHhqMzQ1d0ZwVGhsS2FET2ZPOHdPaGs2QndVR2xlbTdEcUdnQTdwVGtERHNibVloTkpybWlEdUFIWFFkRTZBYW1JY2FkcVpGK2dMZEdOeHgxbnFjUVBCNSs5aURrR0d4TnRSbkl6UldJYXhlUEdQeUZBNGt3NXBMR1BzNjFFcFkvWFl0N25UMmNNZWpXREFVWWo2VVhTUVlDMlM1SDhObllOQ013cFdHeWVDTnVmS1ZaMVBTMUQ2b3FhRmdValJDZEdOZEU2QWFqYnhNQTA1UUNEZFdOeHhSdGhXTkpaaFJwWUxCZ1NPRjc1Nm9ZWlBRYjcwK0xFMzExR04zZkdEai8rZXEyVFNJWTBsNkhEanZUbDJMR0U5M2VpSTMyU3NUS3BycnpRZHpGblU2bWZvSEJRQzRhaXBJTDBQR3Y0enZTNmtDaHhneWJvYmdkOStTUm92a1FQMkxENElkeWdjUFl1YzQwTzlIRGgvWWxzVG9Bdi84b3ZkTGN1R2kvcEplWlZJa0o1bERyaklRelJCSmgzYVdFYlptU2FVQjYva0s1N1duVTQ3K2xlTGJiYlJqZG1uNlZoMWx4RHFLRHZXeWpTNzAvYWp2SmhBTXZYampWT0pySkhwNU8vU3BIT0NoellmTnE4b0U0RHlFcmZPaCtWVm1NaUJzOExZNWI5NEkvVEh5ekhVQmRQZm5KdUtML1VVYlN5OXErNzZVSFRjYzBRWVMyYTFhR01KL3M1Nm4zekRZekRtdW5HcDduVEFRVnorQUZaSzY0MTA2OWgwVjhDRkRoMVpqaWtOWGRLN1A3NDY2eWwzWTBFWHBUVkd5TmtWQi8reklSN1h6R3BWSHAvU0xwVUwwbGlVKzNyU1NNZGdMTUZGSVpzenF6cU1LNTNuUXBUZXd6cEtFQmpwSkFWTGZWMlJ3OUdlNXFINk4xTENPWEJPMzl2cWZlQ1JCTkpjTFpFaEw1Mk14VXpIWkN6QnZ5K3IzL1VkM1hLRHdKbk83ZCt2OTY1TFdCeDhVNWlqbFdYRnk1TVlkbC9na3VSOTRjd2NKZUVoMDhsWXpIU014a0tXdSsxMHlGTExtam1rTE9pS2NQU0ZVejFsWXVGa0xHWTZic2F5N1hSTXRTMWwvdjVYL05EeWhkTkl1WERCYjBtUE1ZcHMrbXltTTVJSWg5SDZJbmZiNllpQ3pvbnozblUvTkgzaDFJMTBPaTZMUkRPZFVZeHJXUi9iVHNlYVNSa0VaNmI4c1BDRU0yeTJpSDN2Y21DYVFlZURFL1k0WjRHT1BabWRsMndzK3VIZ0NXZS9IblhPelcwdzZlUnVEaitLRmJPZmRTckFGODRKUDdQaWdOSng2aEwvd3Z1VitHa1JkRjg0amVVaUxLVHVnTktSOWR1WnhOcVZmc3IxaERQbTV4OWVCWU5KeDA5WDVVZVpYc3l2cTJwNndnbC85VlhGelprZVREbzVHOE9YMm41UFlXaGZPSTJhbDVvTktCMHZiWk1mWk1uVExPUUpCLyszam85ak1PbjRhSmtDR0tQeGk2SUZVT0RiVzA4NEhmMmRxcnljQnBSTzN1YndwRGVrL2ZoWGZsQmZPQmQxODNOUU5BZUl6djhCenVhaHdrMmFQL1VBQUFBQVNVVk9SSzVDWUlJPSIKfQo="/>
    </extobj>
    <extobj name="334E55B0-647D-440b-865C-3EC943EB4CBC-2">
      <extobjdata type="334E55B0-647D-440b-865C-3EC943EB4CBC" data="ewoJIkltZ1NldHRpbmdKc29uIiA6ICJ7XCJkcGlcIjpcIjYwMFwiLFwiZm9ybWF0XCI6XCJQTkdcIixcInRyYW5zcGFyZW50XCI6dHJ1ZSxcImF1dG9cIjpmYWxzZX0iLAoJIkxhdGV4IiA6ICJYQ2hjUjJGdGJXRW9kQzEwWHpBcENseHhkV0ZrWEV4dmJtZHlhV2RvZEdGeWNtOTNYSEYxWVdRS1pWNTdMV3ByWEc5dFpXZGhYekIwWHpCOVhDaz0iLAoJIkxhdGV4SW1nQmFzZTY0IiA6ICJpVkJPUncwS0dnb0FBQUFOU1VoRVVnQUFBNjRBQUFCY0NBTUFBQUJaYWhqUEFBQUFPVkJNVkVYLy8vOEFBQUFBQUFBQUFBQUFBQUFBQUFBQUFBQUFBQUFBQUFBQUFBQUFBQUFBQUFBQUFBQUFBQUFBQUFBQUFBQUFBQUFBQUFBQUFBQUNYSHRNQUFBQUVuUlNUbE1BTXJ0RUVOM3ZWTTFtSXBsMnE0bFFhbDdqaDZUL0FBQUFDWEJJV1hNQUFBN0VBQUFPeEFHVkt3NGJBQUFUL2tsRVFWUjRBZTFkMmFLREtBeHR2ZFh1blpuKy84ZE9UaEJsUnkyZ3R2aHdyd3RMQ0RuWlFIczQxS055b0hMQTRNRHQrbmpkbTB2YkhvMEg5Ykp5b0hKZ1l4eTR2ZVZSNGJxeHFhbmsvRG9Icm0zMzBubHdhdHBPQUZhL1g2OHFCeW9IMXVYQUE4RDhzMmc0NGZiRnVsMXZWQTVVRHF6SUFiYWpWNHNBaHF0aGRhMUNTVytja3JaV0c2c2MrRVlPd0lxK2I5YkkvbkRiTnJwV3VWUTN5TWpmVTdWVjI2a2MrRllPM0FtV1ozdHdMOERWdnAzcnpoSGRWZnVhaTcyMTNhL2h3Ti9aQlpNTHdhZGc2QXFsVVZBN2ZNM2sxWUZVRG9BRGdFL0IwQlVSZEZPVTgrZTJvS3RmWkdTM3prNUJGT200ZHJJMkJ3cUhycnpTK3lnNTZQdTdzd1Aya2dSazZLc3RyUEV5REtFMnVZZ0RITHE2bk9SRnJVVXJYV0hNUys3SmVKYnRMc3FBSkFWTzdmdFNiczZTa0Z3YlNjS0JodURUSm1scFVpT0VubmMzcVdTYVFqUzhiM09Gd1poYjkyNHJYdE9JeUs1YWdiVXJ1TENDMFBWWmprR1VSL3ZPTUk4UzdCV3Y1ZVJvS3ozeHVvcGplU2NUZlJ5NlRnSFFzWmwrK0drbFcxNHdpK2FuSThPVGM5Rjhmb1lCMUNZWGNJQjNKcFp6cXpoMG5aTDU0UXdZTFArRXcwcyt4ZVZsazlBTEptQnhGUnBjUVRkbE1abTE0bHdPbkI2WHJydmNuVkp0aEs1L1QwcGk2QWJwNVRlRzkvWTVCWG9LdlpORDEyUGJ5cmNQSkdBN3V0VWYvWHNKL1JOZjVncVFkdzVhSVdqSHArMzdYVFRGdm1OVzdZbDBNcUJkZzgwUUx0eEI0b2ZROVVpbDJxYlRkazNRdGdhZnlCdFFEL0hrVHdjWWVwMlMzenFkUVRjZkp2RzM4NTNrbFErUEwzK2lQczFhSVJyMzlneUJoVTlUN1cwc2xWN0pnZWJkSVRlS0JSczdSNnFGcm85M0IzVk5ZakJxYlNyZzh5ZTVybXRibyt4WitjOCt0d0NYL0RzRnJ0UkNYOXk1Nytvc0FEdFNxL1I0T0JEU25iVzBRbnUrSUtaT1pPS2VSL2xidEYvZURWdEg2R0o3QlVVTlhadjNFeVdCNjFITUNSQStmNWZqME5FMFI5aDZ3c0hkSGZrMFVueDQzSnRRVDVqR1d4b0g3MkNvaEJPUTV5TWR6MC9QOStyYm5UNmtnZHdIUFhEQnVPcXhZdzQ4cFhIazkrUXM4UjFqeWRORjJGVEtPQ3BLbTdEcjlTZmhiTTVNZDR6ZFRXWnA3dzE3NEhvQVhwM21IK04xNDdqdm12WEFaREx5RlB5UUJtaWs2ZzdubVpwVld2MGJWdWQ0Q2NYeWhvRTRSc0t0N1YxbElHb0VnSEpxMDgvZWNCQVNacDJoTy9PQi94b0JNaDArdUI1STRwMGVJY2JoQzdyUkc2dWxZQWsvVGFtZWZFd0REWDUwaEZKUlZkdFppd05rQUtYMlpkRXdyU3RqR09iejJNbkFsdDFMV1ltYzE1RElRN3VyZ2VQcFFYbXFkM2Q1ZVNweGQycUZnUy8rbWpHNEl2MDdORE9lUUpVRU5RbTM2d1Q2MkVqdXM0OXB3S1I2RW0yNWFhL3RwK2ZBYTdSS0RFT3pCdzQvQ2NOLzcwNGk5TlFvSVYwWGlZM0lVeDJsNVVTZWMzZC9YTzkwMTcxcXhOM0pqaFJhUWpWamNFVkd5YUVkVU0xeGUreVVua2NBUFpiTmRmWTVEV1JlN1lSRUxuSnJ1NWs1MEkzSkZvUkpsdVBVeDVMWGQydmFYU2FNTEZlWVFMSytRMFhhZGk3alhGcTJjYjRGNHdsZGd6V2pjQ1VhYkEwUU5hNXowdHBoSGl4L21vQUc1TzZjN3NweXFtck4xVGh3SFd5Zis0dE1IRXRTZWxJa2p5MHk3NFp4SFYzbXZpZzVZME1sUXVzQUc5cUIzamxzRzdwejVJV0NOYU53SlE5N0dPVkFER29OMUF4M2xSUEllY1QrS3FYem5DYWdBZE5held1ZTZmbW8xWDZOa2FYTS84ZHRKYWxqRGwzTlRCUEhrZ1FXMzJxQVlweVpkaXFxeDRQbjBXQ1RKNnlvZVhKN2JWeDZRdGR3elNoY0Q1M2FzZUF4cERnY2wzS3o0U0lmVGRlVXlpbG9nTU5pYTZzcHZkY3lPVG1BZVpsd0tKRFJxUEdIcmlUWXI2dlRFaDBOa1VkV1IwZjJZN2dHRkZWN1NvYlVWQTY4RW1yYnZFak5PRnlmaGc2aGNjTnU2WlJxektBTFpxV3VlOHdpMmE5VDBJQTVzV0tjN0pTWDZ1QjJkZ3BtcWU0LzZPZll5QTJ6b2YrODBjSFZDeGxHZTFvWnd5dzBsQ095R1hNMWNFQm0wTUJnTTF3anphVDJTeWl6ekt0VFpXQmJScWhtSEs0UHV5ZU1kZ2lxVmJMa2VZS3dVVGExK0g4YUdqQjl3YUV1cG04REZXbnlmOUoxNE5EVnNyeVE2dVp3T3d0SVdMYm1MbE5IL2NUQndLc1dGRFpLemlsWlUwM0pBNXJ5bWZ3dnVwTlg4bitrWmh5dXRMWXMyK3IvQXdnYU5jWnpZWDdOd1ZpRk10OUlFTG9TaGVCUDJKSElQSXljelZOTTVjcUI1T3h5RTIxejZHcmF6eEhEbEcyaXd6U0hGME8xRWR4MFlGeUhLdkJvTmJoREZnM0ZPSGFuc2lSV013NVhha0Z0a002aEs4SWl6SzNxZ3pIYXlIK1poZ1lzanEwOGtIeXN3c1k1VGF6eWRiV3BsaG1PSmtVcWh0bFJOZkFsTnpySmVzUTdmVWRpT3lBU1RXbkcyN3JSWjd0TWxjRTVzRkROT0Z6Snh1czJud05USzNLV28rRC9OSlRWQlNFTkRWQjNka0pBRyt5T0w2Q012dGJWOTg4TFJNTTBubXlFQnNPRVdUZDIrcG5vcEJJYUxxNWowSW13MWdLZDBadzNkQTNXbkFEWGNldVdZQURTTDhPNG5EeEpFelk2bTU1OE14VU5DREUwMWsrbVlBOEZhUk5NT0t6Wnd5RG0wc2dxMkpwVExaWWt2a2pHSFBzM1ZReVBrcHhaRFlEa3FReU9DcUNvdFEvSUdQcEI2KzdROUlZNlZuTUNYRTF1UUhlRTV6aE4yR2oyTys4NkZRMXduQXhPenlOazA2V2gxRFRCMmpTMWlZaURUMkY1VEhvc0NiajJzLzdzODcxR1VFUndNMU80ZzdHRnpHaU9zbU9CQVRRTW5IL0o0REpXY3dGY01aUmZDVjNGaTRKaFh5S1JFSzNUREhTdkZVR3RRNHFqMTl2amVhRXRRZTA5SEhzNWFvWnVSVVBYQTIwMkdJSzVycDk5d3VjWXpkSUxkblFva0NRK0RzYVY4NVBLTSt4Q05zQitZT2RQTXA1VVJSK1NBSTZobWd2Z0NrSkh3a2UrUERsYXhGUDlHUFpMajBXem5hV25RZU5yTnJyWGE1amticU9wdE5NTERpT1J4MzhTQXRZWnVrSnZqV29aRjhMMi9VbWZsNUF5ZkJ5VDloL3lNUkFGRFRBWTF5bHdaUXN2WjMzYzNwZ2VyaHk2U3IwZ084Ui9NUUxIMzJGUWF1azg1NDdleGEzbE5LQytwdkR5VUw1V3F3amt0dWpzbnpnWDAxeGhkbTZJYkpMTmdUdDBWZHhmNmhHVExreFNJNTBQNExsbHVUK3llZVkvd3N1OFFxTW85T0hSNE9oaVltMW5HS09UenJTeVZCcXJPZCs2Nm1vSXhQVEg5WFVYQnpzSzcvN2kvbkpaWWxrbjlmOE1OR0FxdEtSQ2FwcFhiZytMRE5zYkgwdlpaYkFLZUUxbHVQaVFZYzdRbFFFNlFneVRMcUE1K0I0aWQ5aytoWFJUT0NnczdLVy9vYkxRU2hpQngzcTZCd3FvdjBQcVl6QW1zWnJ6NFlvYVlmZUoyd3dYK1pEajhlcnBhSURDazNvdzN1OE9TMEJ5d3JtSTRvTVNvZUdJSG5wamZKRHVqNGxoczJpMndqN2pnQnIrUkJPYkdXVzF0Y2NwY1lzT1FxZElab3BMQ1QzUkxIU05Tand2cCtvdURNQXZJRUtPOVdpWVl6WG53OVhwK1d1ajV4R01nYmYyck5SRk9ocllLU3RGOWlyOVlJUXJUNWMrYnZGaFQ5MHJJNUFsV2lGMkNyRGhNMklEQ1l4Zm95Z3lkcUpacm5yMXhwSWhidWcvcVFUN3JTbEE2NGI0Wmh2c040RmVRYlpWMExneEg2NmdMemk1d212UW1hMVBSLzZyaERTd0VrMGtLYk1IZmpyK3pUMysrZmUvbVZYT0VHRFZtWnROWnRvS2JPbk1iQ1pOUXhxUmNvZXVnSjZLTVBwYTA3dWx4S1VxNmNQbmdlVTNBd2U4cWpXSkY1QStqWjlRQmliMU1QSlArandNZjBoVk1qQldjelpjM2FPVjNlRy9jQkxHUEpuNnJOUjVRaG9RZDR6QlJha0JpSDZnNUVzZG5wZXl5dzRZdlFsVmF5QUEvcVFwOE10SWc3Mnk0MkJ5dnpXQTBRcGUwM1hONkI2ak0vd0F3UHZ5SEcvZTdsVG84ckNVT1UyYkZnd0NtaFlnanZRYkFXMWpEQ3BTY3paY1dmV056cmFEWmR5a1JxMmpVT1piQ1dsZzZRa09PTjlZaEowcEJOaVNDMjRCbHRHM0YralFFek5VbkJUd0NKTkE5ZWdqUUNkM0xnSm1WeVdFd2w0OWRGVWZhdWVSbXJQaHlzb3B5RGh3VzNNaU5IcktYQ1NrZ2QwSlU5ZVhHY1hoNEZ0SDV2RWwvNk1FVWFVR2FQY2pIQW9yRFV5Q2FwZGRjZ2RjVTEzY0pXM0U2a0RGS3lQQWppbkRpdnBhaU5TY0RWZU95UlZTckg2Rkx6T1JPcXQybWhzeEdrN1hKLzFFVU50TTJpMkQrVFVjcFRSVWJxb1ZYdmtmVjA1V280M2x5K1kzS2MwMGMxQW10aUVqcWFnRThnd21HbGQrM1MxUWN6WmNPYnkybkhWbGRoT0dqVXFyODA3RE5QQUtmQ2NXelBoM1VNS05BNjZXYnhhdXNzZW45STFPT3R6ZjJDdzNIdlpsSEVsZ2NpZEROaUpDSUgzYVNZSWRvOHdmcVdHZGVIQkJ5WGc0UDRYb0pEcGNjelpjNGZyYlliUFNNN2VZbnlGS2ovWnBrQVlrK0M3Qyt1TUxYZDd2YjhsbU1lQWZnS3ZNRWE0TFdDR1BKcnVoU2hTYkkyZG02bisycUNMOXdIN1hBS1NwRGN3dkI5VDFzUVgxUGgydGxNOEsxUlRzR1hSUG5LNG9YRG4yK0lDM2NSTGlKVUkwSUgwemhxSVlUa1J0QTY0cnE1LzRpSk9VRUFiMjdmaFFVWkxtSnpRaW9oZ3A2TElDRk94a2IxSldVdjd6QmdjQkhzTENKOEJYR28yY3dvWHI3dGNyTmo3UCs5M1hVTTNaY09VS1ZsSjZwRDBXTm80bCs3UGJ2RlhDWTZCdjJYYUlCbmhicWpJaHZFWjBIN0NmTzVVb0tWLzcvMUhJUS9zS2hUc1ppV1Jqb0h0dnB3Y2dOaXJZQmIxVC9kNi9SbVQ4Q2ZEbmRENzhkTVpzWHZwcnpvWXJhNm9BMWVHdzBhNkl1WmgzeEYyWkVBMUV2L1o5SW1UdFROOUxwL0tYNEVxcm5qekJ4Sk5WMHNSQ0VzUjhuR2lQeUZYOHluQVRjWUQwQ2JPdU1DUWVEcFkxU3FIVm9pTEZqZVJ3NVFabitJNWlndWI4amN0UmdBYmRGUVlIb1hDREdvQVZTZ3BlNzZNTnNWK1htRExCalVrOUl1YzZjMk52UTVqWkwwMHhQQ2hPTVg1a3BtZjJtNzU0Y3JpR3drWVgrZjFMalpQeDJsM2l2a1dBQmloYXZRRjR6a0h6K2xQV0ZiK25oS1AxL1c2YWF3NlQzZU5sQitvY3g2VjUzdStQc3o1WkMzdUNsRGY4SjBsekM2bElVRzAyWExtQ1gvR0tSUHk2cTY0QkdsaDlHMnlEZEliTUsrQTZ3MTB3V3QvVlpRL1c3dldaODdsNHpMMGp2cmkrdCtLNWFmSFRqVHNIcS9pT0xvbWpYSlh5am5kNEVNa004NmFuTmZ5b2djRCtleTF1R3FDK1RWTUtHVkdUVDBwTGZQbzdjT1c5L25LUnkyUkRpV3QyaTZ3Skt0SHpUdnFZYlYwamNPWEhLOXVpQUEySVEwM1ZoT0loaXVueFQwalFqV1ZoMVkxTllIVllkKzRFVnJuSW5BM1h5SzRtMW84aFc1VnJJRXE3ZmhyWVRUYVREWkVSOFhjR2RwMU9WRmdUT09YWHc3cFZ3eGorR3FIMkdaVUF2VC81YURaY09SWGhEZlVDWVdNeDlnWm80TzB0Wm1hWmwzMzhZc295WkZya1lvTXA4YjRyTDN6enZKcWFyTmd3UlVkaTVtTGJWZ29UdGFudVpzT1ZKZDRyM0NKMFhUZWlEOURBTW1tK0RNZHdOVEU4VHBMVElvK1BzNTZWZk4rVkZqdFdTakFOTE96aE9selhFNU1EcytIS080Wk1pUjlhNWJCUjJ3TDBLTzRaQjJqZ1J5YnhERysvK2VSa3NsbG5HSERlRStjNnBBancwdjlkLy8xMDRReHI0cE9Ydjd0cmZUWmNtYVZlcDRuRFJsWDBqK1gzN3dWbzRJVUMwelZndUpycDRuRWkyWjN3ZXY5anVTeG5CZDkzOWM1cGxvRzVHMlVkRkVyN3Vhdjl6dDNaY09YTWk4OWlDbTlHTlVYcXQ2bktjRFZFQTI5UWNzTFZMeVBzSzYvcjNtZG1ITHZjNnFSbDdzL2ZQTStQWDNQNksvN0trL2x3QlV0OUhHVkxwTzRhSXV5VWx2UVFEVTY0Y2dVL1hEbHgvTlhpQUo5akUyZ1Z2d0xubTRyYlpTMGZaenV6UHgrdXFPRUxMMWkwMVlmUDRBYUVMR3dJMGNCK3NqbnBERmVWYUowc2pOY25RWHJKblY1aGdOdEE2MEZrQ2QxOHBQZEEvZmxBZDVYdnV6c2ZydXdjZW5ZaGNtdEs2RXA1S1UvSmZKd00wVUNDYVc4NGpNQVZFUGM1Ly9sR1VhNWxxTGVOb1BVZ2NrMU9rU0cwZnJYU25EYmg4K0hLcVdGUHlwOVRPVXJPNHJLQ1FnelJBTFJhKzRQRGNHVUpNc1BkYWJ6ZFJTbU1manZhaUYwajAvMEJIK2s5b2Nocnlidmc5cWRFc25EUGV3a1FJdTlSeDd4UU1yb3NMMitRK3luWmdmb2hHdGdaTnJFWGhpdHJwOUx4ZDJCNGlSL0p6OVVuYm5acGM1d25WTnd6MmM2UmR1aC83eVRJVWNiL3N3RFBDODVna0IwY1JWLzZqb1B6S2l3TzBlQ0hxOWZSUWpqbEQyempETjU0Q1pwTTdXMzl0Y2wxaDFvMENmclBXcXhONWpyOTh3dTdzSmJ2cDhlOWRkQ0ZyVUVlQVdibEtKMWhXdU4zdVRXT0ZwUGVDdEhnekF5SDExMWhyRDNLS1NuWjZ6U0dzYTh4U2Y3Und0MHorUDFIOTdianIvdEp6L2ZrUmovdStHeDZUNWdZUkVmWDRIM2dWL3lkUU41cTQvRk1JTno5S2cvcFNkUHR6RGNldGVVQURUeGdrNm93WEdHUVBhNi8ydWsreitFS0c5aFlleUQ4TVF1cDhVSE1tUndBOGJ1cWE1TzJYditCM1cxeFpRdHdtekxmRHdWZlhjU3owNWxTQTlNTmRsSkdCR2pneEpvSlBvYXJUMmc1ZEhXbUtwUFN2RkpqbE5uWmxDdk1iTUFrOVV1c3h3ZTJkYlhtakszRXJmVzZKYmgyWFh2Umo3YnRpRGx4dUliOFEvNzJKWnBaOFFQVGZocjhXL3hWZmE1T0MySXAzNllRdGR3dXp4RTNiQkFLK1BvenlTZjl6Z0lPNVJla2RzbmsxWW1HYWZZRXIwVGJIeXZFdThkYkxrTzhqd1kycENZeUdjTWViNEYrNEhPVEVwMkdqVFJ5YjRvdFRROExXem0rTGdUWjl2SjhyT1NoTGFSN205V2c5dUpHZUlPMHMydHJaaTE0cmMralhYalY5V3Q5WVhLVGRqbU5HNVNzTFpNRWUrUUw5clpNOStFQVJXTitHUUlHMU9jc3dCYzI0YjN0RWM2aTdtc1YwU3d1Zkh0aHRqbTdIQ1RDYnRQLzQwRGJNeHBFVWRVZjh6Q24zdDRKQnlEMXZtaHYwMFBnSFV3R2hUUVduMCtJWE16WEpwb01OdFRMcitYQWZzVVk1bEtQMTVBNE13MnVuRGlFdFhwcCthVCtyeHpZRHdjZ3g3dDBFcEViMW9QUmdLY0FwOStNZFBjelI1WFN5b0dlQS9zVlpKaFhOY01DUjhGblhKRlMyNlZTcW5KYU9hQnhZTGVTakxVYzFXSmlYNklIa3RCSisweUFhMU5WTHlvSERtU2w5aW5LeURhTmxBZGNZZjV0T3RVUTExbXZITmdyQjVDaDJXY1dCcjhFMDRxODlwV1VUdWNieFVhMzZPMVZZQ3JkcTNJQTI4TlhKV0J4NXllWTFPN3l2R0RGOWVtMW4rUW0xMFdjeFV5dUZUZkdBYkpNZW81MVkvUUZ5RGs5bnJTQnZHdWZWeTlZOFptdjdiMnRFaGhUZlZRNUVPSUFuRVZQa2laVWJTZlBrR2Z5dWNrN0dVSWxzM0pBNFFBbGJWcS9kVklLN3ZHVWRoS1BINTNhNHdBcXpaVURPZ2RvQS95M1JuY1VtZS9WMDlmbnFGNVZEa2dPME9ycnVDWWliMzdEZjFKRTZ1THNOd3lwanFGeWdQQnF2dTM5RFV3aE4vODcxZEEzVEU0ZHczSU9rQm5hNE9kRGxvK0hhOUxPcCtvSmY4akRXbjJUSENCRDlHM3BZVW9LMXl6VEpvV3RFdlV4QjI3cmZwYnBZL3J0Qms1UHo2ZGc3S0wxVHVWQWZnNzhEMVVhWlY5K3BEUjlBQUFBQUVsRlRrU3VRbUNDIgp9Cg=="/>
    </extobj>
  </extobjs>
</s:customData>
</file>

<file path=customXml/itemProps33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975</Words>
  <Application>WPS 演示</Application>
  <PresentationFormat>宽屏</PresentationFormat>
  <Paragraphs>162</Paragraphs>
  <Slides>19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方正雅意黑 GB18030L2</vt:lpstr>
      <vt:lpstr>Wingdings</vt:lpstr>
      <vt:lpstr>微软雅黑 Light</vt:lpstr>
      <vt:lpstr>汉仪中黑KW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微软雅黑</vt:lpstr>
      <vt:lpstr>Apple Color Emoji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范小鱼</dc:creator>
  <cp:lastModifiedBy>谢秋实</cp:lastModifiedBy>
  <cp:revision>279</cp:revision>
  <dcterms:created xsi:type="dcterms:W3CDTF">2026-08-17T19:12:13Z</dcterms:created>
  <dcterms:modified xsi:type="dcterms:W3CDTF">2026-08-17T19:12:13Z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3C9CB9C6B6013DC48CC67B6A5770D540_43</vt:lpwstr>
  </property>
  <property fmtid="{D5CDD505-2E9C-101B-9397-08002B2CF9AE}" pid="3" name="KSOProductBuildVer">
    <vt:lpwstr>2052-12.1.26046.26046</vt:lpwstr>
  </property>
</Properties>
</file>